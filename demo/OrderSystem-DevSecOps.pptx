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d96b17c-aecf-32fb-8f52-6bdabea230c8}">
          <p14:sldIdLst>
            <p14:sldId id="256"/>
          </p14:sldIdLst>
        </p14:section>
        <p14:section name="What I Built" id="{de290ca5-d107-182a-a02a-210945cfcd35}">
          <p14:sldIdLst>
            <p14:sldId id="257"/>
          </p14:sldIdLst>
        </p14:section>
        <p14:section name="Architecture" id="{b376fe39-880b-31c6-8360-1af35dca3d04}">
          <p14:sldIdLst>
            <p14:sldId id="258"/>
            <p14:sldId id="259"/>
          </p14:sldIdLst>
        </p14:section>
        <p14:section name="CI/CD and Security" id="{70e38537-f5a9-bc72-c6bf-48b713861f00}">
          <p14:sldIdLst>
            <p14:sldId id="260"/>
            <p14:sldId id="261"/>
          </p14:sldIdLst>
        </p14:section>
        <p14:section name="Delivery and Platform" id="{5b230b7d-8c8c-870f-ff80-a26fb6f84461}">
          <p14:sldIdLst>
            <p14:sldId id="262"/>
            <p14:sldId id="263"/>
            <p14:sldId id="264"/>
          </p14:sldIdLst>
        </p14:section>
        <p14:section name="Observability" id="{d9b1b4c9-bc18-3317-9c29-8cacc6c7360e}">
          <p14:sldIdLst>
            <p14:sldId id="265"/>
          </p14:sldIdLst>
        </p14:section>
        <p14:section name="Wrap Up" id="{ae2aa1fd-e320-f273-a9ab-9ee170a67f80}">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an order system with two Spring Boot microservices, and everything around it needed to run it in production: CI/CD, security scanning, GitOps, Kubernetes, Terraform and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numbers that sum up the scope. The goal is that a git push is the only manual action needed to 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is the delivery path: code in GitHub, Actions builds and scans it, images land in GHCR tagged with the commit SHA, Argo CD syncs the cluster. Bottom row is runtime: Ingress routes to order-service, which checks inventory-service and stores orders in Postgres. Prometheus scrapes both services and Grafana visualises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small services so the platform has a real service to service call and a database. Both expose health and Prometheus endpoints, which the probes and monitoring depend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checks run in parallel. The image job builds each service, scans it and pushes it tagged with the commit SHA. The last job writes that tag back into the manifests, and that commit is what Argo CD deploys.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part of the pipeline rather than a separate step. Secrets, dependencies, infrastructure code and images are all scanned, and the pipeline itself is hardened with pinned actions and a minimal token.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cluster never gets kubectl apply from CI. CI only changes Git; Argo CD pulls. App of apps means adding a file under gitops/apps is enough to onboard a new component.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Runs locally on a two-node kind cluster and is portable to EKS. Each resource here maps to a file in kubernetes/ numbered in apply order. There is also a debug-drills folder with six broken manifests for troubleshooting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AZs for availability. Worker nodes and the database sit in private subnets and reach the internet only through the NAT gateway. RDS accepts connections only from inside the VPC. The DB password is passed in through an environment variable, never committed.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Micrometer exposes metrics from both services. Prometheus scrapes them and evaluates alert rules; Grafana is provisioned with the datasource and dashboard, so a fresh cluster has monitoring with no clicks.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issues found while bringing the pipeline up end to end, each with its root cause and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live demo in this order: folder structure, trigger a push and watch Actions, terraform plan and the AWS console, Argo CD synced app, kubectl get pods svc ingress, Prometheus targets, Grafana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188720"/>
          </a:xfrm>
          <a:prstGeom prst="rect">
            <a:avLst/>
          </a:prstGeom>
          <a:noFill/>
          <a:ln/>
        </p:spPr>
        <p:txBody>
          <a:bodyPr wrap="square" rtlCol="0"/>
          <a:lstStyle>
            <a:lvl1pPr algn="l" indent="0" marL="0">
              <a:buNone/>
              <a:defRPr lang="en-US" sz="4000" b="1" dirty="0">
                <a:solidFill>
                  <a:schemeClr val="bg1"/>
                </a:solidFill>
                <a:latin typeface="Arial" pitchFamily="34" charset="0"/>
                <a:ea typeface="Arial" pitchFamily="34" charset="-122"/>
                <a:cs typeface="Arial" pitchFamily="34" charset="-120"/>
              </a:defRPr>
            </a:lvl1pPr>
          </a:lstStyle>
          <a:p>
            <a:pPr algn="l" indent="0" marL="0">
              <a:buNone/>
            </a:pPr>
            <a:endParaRPr lang="en-US" sz="4000" dirty="0"/>
          </a:p>
        </p:txBody>
      </p:sp>
      <p:sp>
        <p:nvSpPr>
          <p:cNvPr id="3" name="Text 0"/>
          <p:cNvSpPr/>
          <p:nvPr>
            <p:ph idx="101" type="body" hasCustomPrompt="1"/>
          </p:nvPr>
        </p:nvSpPr>
        <p:spPr>
          <a:xfrm>
            <a:off x="548640" y="2743200"/>
            <a:ext cx="8046720" cy="822960"/>
          </a:xfrm>
          <a:prstGeom prst="rect">
            <a:avLst/>
          </a:prstGeom>
          <a:noFill/>
          <a:ln/>
        </p:spPr>
        <p:txBody>
          <a:bodyPr wrap="square" rtlCol="0"/>
          <a:lstStyle>
            <a:lvl1pPr algn="l" indent="0" marL="0">
              <a:buNone/>
              <a:defRPr lang="en-US" sz="1800" dirty="0">
                <a:solidFill>
                  <a:schemeClr val="accent6"/>
                </a:solidFill>
                <a:latin typeface="Calibri" pitchFamily="34" charset="0"/>
                <a:ea typeface="Calibri" pitchFamily="34" charset="-122"/>
                <a:cs typeface="Calibri" pitchFamily="34" charset="-120"/>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000" b="1" dirty="0">
                <a:solidFill>
                  <a:schemeClr val="tx1"/>
                </a:solidFill>
                <a:latin typeface="Arial" pitchFamily="34" charset="0"/>
                <a:ea typeface="Arial" pitchFamily="34" charset="-122"/>
                <a:cs typeface="Arial" pitchFamily="34" charset="-120"/>
              </a:defRPr>
            </a:lvl1pPr>
          </a:lstStyle>
          <a:p>
            <a:pPr algn="l" indent="0" marL="0">
              <a:buNone/>
            </a:pPr>
            <a:endParaRPr lang="en-US" sz="3000" dirty="0"/>
          </a:p>
        </p:txBody>
      </p:sp>
      <p:sp>
        <p:nvSpPr>
          <p:cNvPr id="3" name="Text 0"/>
          <p:cNvSpPr/>
          <p:nvPr/>
        </p:nvSpPr>
        <p:spPr>
          <a:xfrm>
            <a:off x="457200" y="4754880"/>
            <a:ext cx="4572000" cy="274320"/>
          </a:xfrm>
          <a:prstGeom prst="rect">
            <a:avLst/>
          </a:prstGeom>
          <a:noFill/>
          <a:ln/>
        </p:spPr>
        <p:txBody>
          <a:bodyPr wrap="square" lIns="0" tIns="0" rIns="0" bIns="0" rtlCol="0" anchor="ctr"/>
          <a:lstStyle/>
          <a:p>
            <a:pPr indent="0" marL="0">
              <a:buNone/>
            </a:pPr>
            <a:r>
              <a:rPr lang="en-US" sz="1000" dirty="0">
                <a:solidFill>
                  <a:schemeClr val="accent4"/>
                </a:solidFill>
                <a:latin typeface="Calibri" pitchFamily="34" charset="0"/>
                <a:ea typeface="Calibri" pitchFamily="34" charset="-122"/>
                <a:cs typeface="Calibri" pitchFamily="34" charset="-120"/>
              </a:rPr>
              <a:t>OrderSystem  |  DevSecOps Capstone</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slideLayout" Target="../slideLayouts/slideLayout2.xml"/><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slideLayout" Target="../slideLayouts/slideLayout3.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3.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2.xml"/><Relationship Id="rId9"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188720"/>
          </a:xfrm>
          <a:prstGeom prst="rect">
            <a:avLst/>
          </a:prstGeom>
          <a:noFill/>
          <a:ln/>
        </p:spPr>
        <p:txBody>
          <a:bodyPr wrap="square" lIns="0" tIns="0" rIns="0" bIns="0" rtlCol="0" anchor="b"/>
          <a:lstStyle/>
          <a:p>
            <a:pPr algn="l" indent="0" marL="0">
              <a:buNone/>
            </a:pPr>
            <a:r>
              <a:rPr lang="en-US" sz="4000" b="1" dirty="0">
                <a:solidFill>
                  <a:schemeClr val="bg1"/>
                </a:solidFill>
                <a:latin typeface="Arial" pitchFamily="34" charset="0"/>
                <a:ea typeface="Arial" pitchFamily="34" charset="-122"/>
                <a:cs typeface="Arial" pitchFamily="34" charset="-120"/>
              </a:rPr>
              <a:t>OrderSystem</a:t>
            </a:r>
            <a:endParaRPr lang="en-US" sz="4000" dirty="0"/>
          </a:p>
        </p:txBody>
      </p:sp>
      <p:sp>
        <p:nvSpPr>
          <p:cNvPr id="3" name="Text 0"/>
          <p:cNvSpPr/>
          <p:nvPr>
            <p:ph idx="101" type="body" hasCustomPrompt="1"/>
          </p:nvPr>
        </p:nvSpPr>
        <p:spPr>
          <a:xfrm>
            <a:off x="548640" y="2743200"/>
            <a:ext cx="8046720" cy="822960"/>
          </a:xfrm>
          <a:prstGeom prst="rect">
            <a:avLst/>
          </a:prstGeom>
          <a:noFill/>
          <a:ln/>
        </p:spPr>
        <p:txBody>
          <a:bodyPr wrap="square" lIns="0" tIns="0" rIns="0" bIns="0" rtlCol="0" anchor="t"/>
          <a:lstStyle/>
          <a:p>
            <a:pPr algn="l" indent="0" marL="0">
              <a:buNone/>
            </a:pPr>
            <a:r>
              <a:rPr lang="en-US" sz="1800" dirty="0">
                <a:solidFill>
                  <a:schemeClr val="accent6"/>
                </a:solidFill>
                <a:latin typeface="Calibri" pitchFamily="34" charset="0"/>
                <a:ea typeface="Calibri" pitchFamily="34" charset="-122"/>
                <a:cs typeface="Calibri" pitchFamily="34" charset="-120"/>
              </a:rPr>
              <a:t>A cloud-native order platform shipped through a full DevSecOps pipeline: CI with security gates, GitOps delivery, Kubernetes, Terraform on AWS and live observability</a:t>
            </a:r>
            <a:endParaRPr lang="en-US" sz="1800" dirty="0"/>
          </a:p>
        </p:txBody>
      </p:sp>
      <p:pic>
        <p:nvPicPr>
          <p:cNvPr id="4" name="stack icon 1" descr="preencoded.png">    </p:cNvPr>
          <p:cNvPicPr>
            <a:picLocks noChangeAspect="1"/>
          </p:cNvPicPr>
          <p:nvPr/>
        </p:nvPicPr>
        <p:blipFill>
          <a:blip r:embed="rId1"/>
          <a:stretch>
            <a:fillRect/>
          </a:stretch>
        </p:blipFill>
        <p:spPr>
          <a:xfrm>
            <a:off x="548640" y="3977640"/>
            <a:ext cx="329184" cy="329184"/>
          </a:xfrm>
          <a:prstGeom prst="rect">
            <a:avLst/>
          </a:prstGeom>
        </p:spPr>
      </p:pic>
      <p:pic>
        <p:nvPicPr>
          <p:cNvPr id="5" name="stack icon 2" descr="preencoded.png">    </p:cNvPr>
          <p:cNvPicPr>
            <a:picLocks noChangeAspect="1"/>
          </p:cNvPicPr>
          <p:nvPr/>
        </p:nvPicPr>
        <p:blipFill>
          <a:blip r:embed="rId2"/>
          <a:stretch>
            <a:fillRect/>
          </a:stretch>
        </p:blipFill>
        <p:spPr>
          <a:xfrm>
            <a:off x="1115568" y="3977640"/>
            <a:ext cx="329184" cy="329184"/>
          </a:xfrm>
          <a:prstGeom prst="rect">
            <a:avLst/>
          </a:prstGeom>
        </p:spPr>
      </p:pic>
      <p:pic>
        <p:nvPicPr>
          <p:cNvPr id="6" name="stack icon 3" descr="preencoded.png">    </p:cNvPr>
          <p:cNvPicPr>
            <a:picLocks noChangeAspect="1"/>
          </p:cNvPicPr>
          <p:nvPr/>
        </p:nvPicPr>
        <p:blipFill>
          <a:blip r:embed="rId3"/>
          <a:stretch>
            <a:fillRect/>
          </a:stretch>
        </p:blipFill>
        <p:spPr>
          <a:xfrm>
            <a:off x="1682496" y="3977640"/>
            <a:ext cx="329184" cy="329184"/>
          </a:xfrm>
          <a:prstGeom prst="rect">
            <a:avLst/>
          </a:prstGeom>
        </p:spPr>
      </p:pic>
      <p:pic>
        <p:nvPicPr>
          <p:cNvPr id="7" name="stack icon 4" descr="preencoded.png">    </p:cNvPr>
          <p:cNvPicPr>
            <a:picLocks noChangeAspect="1"/>
          </p:cNvPicPr>
          <p:nvPr/>
        </p:nvPicPr>
        <p:blipFill>
          <a:blip r:embed="rId4"/>
          <a:stretch>
            <a:fillRect/>
          </a:stretch>
        </p:blipFill>
        <p:spPr>
          <a:xfrm>
            <a:off x="2249424" y="3977640"/>
            <a:ext cx="329184" cy="329184"/>
          </a:xfrm>
          <a:prstGeom prst="rect">
            <a:avLst/>
          </a:prstGeom>
        </p:spPr>
      </p:pic>
      <p:pic>
        <p:nvPicPr>
          <p:cNvPr id="8" name="stack icon 5" descr="preencoded.png">    </p:cNvPr>
          <p:cNvPicPr>
            <a:picLocks noChangeAspect="1"/>
          </p:cNvPicPr>
          <p:nvPr/>
        </p:nvPicPr>
        <p:blipFill>
          <a:blip r:embed="rId5"/>
          <a:stretch>
            <a:fillRect/>
          </a:stretch>
        </p:blipFill>
        <p:spPr>
          <a:xfrm>
            <a:off x="2816352" y="3977640"/>
            <a:ext cx="329184" cy="329184"/>
          </a:xfrm>
          <a:prstGeom prst="rect">
            <a:avLst/>
          </a:prstGeom>
        </p:spPr>
      </p:pic>
      <p:pic>
        <p:nvPicPr>
          <p:cNvPr id="9" name="stack icon 6" descr="preencoded.png">    </p:cNvPr>
          <p:cNvPicPr>
            <a:picLocks noChangeAspect="1"/>
          </p:cNvPicPr>
          <p:nvPr/>
        </p:nvPicPr>
        <p:blipFill>
          <a:blip r:embed="rId6"/>
          <a:stretch>
            <a:fillRect/>
          </a:stretch>
        </p:blipFill>
        <p:spPr>
          <a:xfrm>
            <a:off x="3383280" y="3977640"/>
            <a:ext cx="329184" cy="329184"/>
          </a:xfrm>
          <a:prstGeom prst="rect">
            <a:avLst/>
          </a:prstGeom>
        </p:spPr>
      </p:pic>
      <p:pic>
        <p:nvPicPr>
          <p:cNvPr id="10" name="stack icon 7" descr="preencoded.png">    </p:cNvPr>
          <p:cNvPicPr>
            <a:picLocks noChangeAspect="1"/>
          </p:cNvPicPr>
          <p:nvPr/>
        </p:nvPicPr>
        <p:blipFill>
          <a:blip r:embed="rId7"/>
          <a:stretch>
            <a:fillRect/>
          </a:stretch>
        </p:blipFill>
        <p:spPr>
          <a:xfrm>
            <a:off x="3950208" y="3977640"/>
            <a:ext cx="329184" cy="329184"/>
          </a:xfrm>
          <a:prstGeom prst="rect">
            <a:avLst/>
          </a:prstGeom>
        </p:spPr>
      </p:pic>
      <p:pic>
        <p:nvPicPr>
          <p:cNvPr id="11" name="stack icon 8" descr="preencoded.png">    </p:cNvPr>
          <p:cNvPicPr>
            <a:picLocks noChangeAspect="1"/>
          </p:cNvPicPr>
          <p:nvPr/>
        </p:nvPicPr>
        <p:blipFill>
          <a:blip r:embed="rId8"/>
          <a:stretch>
            <a:fillRect/>
          </a:stretch>
        </p:blipFill>
        <p:spPr>
          <a:xfrm>
            <a:off x="4517136" y="3977640"/>
            <a:ext cx="329184" cy="329184"/>
          </a:xfrm>
          <a:prstGeom prst="rect">
            <a:avLst/>
          </a:prstGeom>
        </p:spPr>
      </p:pic>
      <p:sp>
        <p:nvSpPr>
          <p:cNvPr id="12" name="byline"/>
          <p:cNvSpPr txBox="1"/>
          <p:nvPr/>
        </p:nvSpPr>
        <p:spPr>
          <a:xfrm>
            <a:off x="548640" y="457200"/>
            <a:ext cx="8046720" cy="320040"/>
          </a:xfrm>
          <a:prstGeom prst="rect">
            <a:avLst/>
          </a:prstGeom>
          <a:noFill/>
          <a:ln/>
        </p:spPr>
        <p:txBody>
          <a:bodyPr wrap="square" lIns="0" tIns="0" rIns="0" bIns="0" rtlCol="0" anchor="ctr"/>
          <a:lstStyle/>
          <a:p>
            <a:pPr indent="0" marL="0">
              <a:buNone/>
            </a:pPr>
            <a:r>
              <a:rPr lang="en-US" sz="1200" dirty="0">
                <a:solidFill>
                  <a:schemeClr val="accent4"/>
                </a:solidFill>
              </a:rPr>
              <a:t>Parth Dagia  |  DevSecOps Capstone  |  github.com/parthdagia05/devOps-final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What I built</a:t>
            </a:r>
            <a:endParaRPr lang="en-US" sz="3000" dirty="0"/>
          </a:p>
        </p:txBody>
      </p:sp>
      <p:sp>
        <p:nvSpPr>
          <p:cNvPr id="3" name="stat 1 card"/>
          <p:cNvSpPr/>
          <p:nvPr/>
        </p:nvSpPr>
        <p:spPr>
          <a:xfrm>
            <a:off x="457200" y="1234440"/>
            <a:ext cx="1920240" cy="2148840"/>
          </a:xfrm>
          <a:prstGeom prst="roundRect">
            <a:avLst>
              <a:gd name="adj" fmla="val 3810"/>
            </a:avLst>
          </a:prstGeom>
          <a:solidFill>
            <a:schemeClr val="bg2"/>
          </a:solidFill>
          <a:ln/>
        </p:spPr>
      </p:sp>
      <p:sp>
        <p:nvSpPr>
          <p:cNvPr id="4" name="stat 1 value"/>
          <p:cNvSpPr txBox="1"/>
          <p:nvPr/>
        </p:nvSpPr>
        <p:spPr>
          <a:xfrm>
            <a:off x="640080" y="1325880"/>
            <a:ext cx="1554480" cy="914400"/>
          </a:xfrm>
          <a:prstGeom prst="rect">
            <a:avLst/>
          </a:prstGeom>
          <a:noFill/>
          <a:ln/>
        </p:spPr>
        <p:txBody>
          <a:bodyPr wrap="square" lIns="0" tIns="0" rIns="0" bIns="0" rtlCol="0" anchor="ctr"/>
          <a:lstStyle/>
          <a:p>
            <a:pPr indent="0" marL="0">
              <a:buNone/>
            </a:pPr>
            <a:r>
              <a:rPr lang="en-US" sz="6000" b="1" dirty="0">
                <a:solidFill>
                  <a:schemeClr val="accent1"/>
                </a:solidFill>
                <a:latin typeface="Arial" pitchFamily="34" charset="0"/>
                <a:ea typeface="Arial" pitchFamily="34" charset="-122"/>
                <a:cs typeface="Arial" pitchFamily="34" charset="-120"/>
              </a:rPr>
              <a:t>2</a:t>
            </a:r>
            <a:endParaRPr lang="en-US" sz="6000" dirty="0"/>
          </a:p>
        </p:txBody>
      </p:sp>
      <p:sp>
        <p:nvSpPr>
          <p:cNvPr id="5" name="stat 1 label"/>
          <p:cNvSpPr txBox="1"/>
          <p:nvPr/>
        </p:nvSpPr>
        <p:spPr>
          <a:xfrm>
            <a:off x="640080" y="2240280"/>
            <a:ext cx="1554480" cy="548640"/>
          </a:xfrm>
          <a:prstGeom prst="rect">
            <a:avLst/>
          </a:prstGeom>
          <a:noFill/>
          <a:ln/>
        </p:spPr>
        <p:txBody>
          <a:bodyPr wrap="square" lIns="0" tIns="0" rIns="0" bIns="0" rtlCol="0" anchor="t"/>
          <a:lstStyle/>
          <a:p>
            <a:pPr indent="0" marL="0">
              <a:buNone/>
            </a:pPr>
            <a:r>
              <a:rPr lang="en-US" sz="1400" b="1" dirty="0">
                <a:solidFill>
                  <a:schemeClr val="tx1"/>
                </a:solidFill>
              </a:rPr>
              <a:t>Spring Boot microservices</a:t>
            </a:r>
            <a:endParaRPr lang="en-US" sz="1400" dirty="0"/>
          </a:p>
        </p:txBody>
      </p:sp>
      <p:sp>
        <p:nvSpPr>
          <p:cNvPr id="6" name="stat 1 detail"/>
          <p:cNvSpPr txBox="1"/>
          <p:nvPr/>
        </p:nvSpPr>
        <p:spPr>
          <a:xfrm>
            <a:off x="640080" y="2834640"/>
            <a:ext cx="1554480" cy="457200"/>
          </a:xfrm>
          <a:prstGeom prst="rect">
            <a:avLst/>
          </a:prstGeom>
          <a:noFill/>
          <a:ln/>
        </p:spPr>
        <p:txBody>
          <a:bodyPr wrap="square" lIns="0" tIns="0" rIns="0" bIns="0" rtlCol="0" anchor="t"/>
          <a:lstStyle/>
          <a:p>
            <a:pPr indent="0" marL="0">
              <a:buNone/>
            </a:pPr>
            <a:r>
              <a:rPr lang="en-US" sz="1100" dirty="0">
                <a:solidFill>
                  <a:schemeClr val="tx2"/>
                </a:solidFill>
              </a:rPr>
              <a:t>order-service + inventory-service on Java 25</a:t>
            </a:r>
            <a:endParaRPr lang="en-US" sz="1100" dirty="0"/>
          </a:p>
        </p:txBody>
      </p:sp>
      <p:sp>
        <p:nvSpPr>
          <p:cNvPr id="7" name="stat 2 card"/>
          <p:cNvSpPr/>
          <p:nvPr/>
        </p:nvSpPr>
        <p:spPr>
          <a:xfrm>
            <a:off x="2560320" y="1234440"/>
            <a:ext cx="1920240" cy="2148840"/>
          </a:xfrm>
          <a:prstGeom prst="roundRect">
            <a:avLst>
              <a:gd name="adj" fmla="val 3810"/>
            </a:avLst>
          </a:prstGeom>
          <a:solidFill>
            <a:schemeClr val="bg2"/>
          </a:solidFill>
          <a:ln/>
        </p:spPr>
      </p:sp>
      <p:sp>
        <p:nvSpPr>
          <p:cNvPr id="8" name="stat 2 value"/>
          <p:cNvSpPr txBox="1"/>
          <p:nvPr/>
        </p:nvSpPr>
        <p:spPr>
          <a:xfrm>
            <a:off x="2743200" y="1325880"/>
            <a:ext cx="1554480" cy="914400"/>
          </a:xfrm>
          <a:prstGeom prst="rect">
            <a:avLst/>
          </a:prstGeom>
          <a:noFill/>
          <a:ln/>
        </p:spPr>
        <p:txBody>
          <a:bodyPr wrap="square" lIns="0" tIns="0" rIns="0" bIns="0" rtlCol="0" anchor="ctr"/>
          <a:lstStyle/>
          <a:p>
            <a:pPr indent="0" marL="0">
              <a:buNone/>
            </a:pPr>
            <a:r>
              <a:rPr lang="en-US" sz="6000" b="1" dirty="0">
                <a:solidFill>
                  <a:schemeClr val="accent1"/>
                </a:solidFill>
                <a:latin typeface="Arial" pitchFamily="34" charset="0"/>
                <a:ea typeface="Arial" pitchFamily="34" charset="-122"/>
                <a:cs typeface="Arial" pitchFamily="34" charset="-120"/>
              </a:rPr>
              <a:t>7</a:t>
            </a:r>
            <a:endParaRPr lang="en-US" sz="6000" dirty="0"/>
          </a:p>
        </p:txBody>
      </p:sp>
      <p:sp>
        <p:nvSpPr>
          <p:cNvPr id="9" name="stat 2 label"/>
          <p:cNvSpPr txBox="1"/>
          <p:nvPr/>
        </p:nvSpPr>
        <p:spPr>
          <a:xfrm>
            <a:off x="2743200" y="2240280"/>
            <a:ext cx="1554480" cy="548640"/>
          </a:xfrm>
          <a:prstGeom prst="rect">
            <a:avLst/>
          </a:prstGeom>
          <a:noFill/>
          <a:ln/>
        </p:spPr>
        <p:txBody>
          <a:bodyPr wrap="square" lIns="0" tIns="0" rIns="0" bIns="0" rtlCol="0" anchor="t"/>
          <a:lstStyle/>
          <a:p>
            <a:pPr indent="0" marL="0">
              <a:buNone/>
            </a:pPr>
            <a:r>
              <a:rPr lang="en-US" sz="1400" b="1" dirty="0">
                <a:solidFill>
                  <a:schemeClr val="tx1"/>
                </a:solidFill>
              </a:rPr>
              <a:t>CI/CD pipeline jobs</a:t>
            </a:r>
            <a:endParaRPr lang="en-US" sz="1400" dirty="0"/>
          </a:p>
        </p:txBody>
      </p:sp>
      <p:sp>
        <p:nvSpPr>
          <p:cNvPr id="10" name="stat 2 detail"/>
          <p:cNvSpPr txBox="1"/>
          <p:nvPr/>
        </p:nvSpPr>
        <p:spPr>
          <a:xfrm>
            <a:off x="2743200" y="2834640"/>
            <a:ext cx="1554480" cy="457200"/>
          </a:xfrm>
          <a:prstGeom prst="rect">
            <a:avLst/>
          </a:prstGeom>
          <a:noFill/>
          <a:ln/>
        </p:spPr>
        <p:txBody>
          <a:bodyPr wrap="square" lIns="0" tIns="0" rIns="0" bIns="0" rtlCol="0" anchor="t"/>
          <a:lstStyle/>
          <a:p>
            <a:pPr indent="0" marL="0">
              <a:buNone/>
            </a:pPr>
            <a:r>
              <a:rPr lang="en-US" sz="1100" dirty="0">
                <a:solidFill>
                  <a:schemeClr val="tx2"/>
                </a:solidFill>
              </a:rPr>
              <a:t>build, scan, package, publish and deploy</a:t>
            </a:r>
            <a:endParaRPr lang="en-US" sz="1100" dirty="0"/>
          </a:p>
        </p:txBody>
      </p:sp>
      <p:sp>
        <p:nvSpPr>
          <p:cNvPr id="11" name="stat 3 card"/>
          <p:cNvSpPr/>
          <p:nvPr/>
        </p:nvSpPr>
        <p:spPr>
          <a:xfrm>
            <a:off x="4663440" y="1234440"/>
            <a:ext cx="1920240" cy="2148840"/>
          </a:xfrm>
          <a:prstGeom prst="roundRect">
            <a:avLst>
              <a:gd name="adj" fmla="val 3810"/>
            </a:avLst>
          </a:prstGeom>
          <a:solidFill>
            <a:schemeClr val="bg2"/>
          </a:solidFill>
          <a:ln/>
        </p:spPr>
      </p:sp>
      <p:sp>
        <p:nvSpPr>
          <p:cNvPr id="12" name="stat 3 value"/>
          <p:cNvSpPr txBox="1"/>
          <p:nvPr/>
        </p:nvSpPr>
        <p:spPr>
          <a:xfrm>
            <a:off x="4846320" y="1325880"/>
            <a:ext cx="1554480" cy="914400"/>
          </a:xfrm>
          <a:prstGeom prst="rect">
            <a:avLst/>
          </a:prstGeom>
          <a:noFill/>
          <a:ln/>
        </p:spPr>
        <p:txBody>
          <a:bodyPr wrap="square" lIns="0" tIns="0" rIns="0" bIns="0" rtlCol="0" anchor="ctr"/>
          <a:lstStyle/>
          <a:p>
            <a:pPr indent="0" marL="0">
              <a:buNone/>
            </a:pPr>
            <a:r>
              <a:rPr lang="en-US" sz="6000" b="1" dirty="0">
                <a:solidFill>
                  <a:schemeClr val="accent1"/>
                </a:solidFill>
                <a:latin typeface="Arial" pitchFamily="34" charset="0"/>
                <a:ea typeface="Arial" pitchFamily="34" charset="-122"/>
                <a:cs typeface="Arial" pitchFamily="34" charset="-120"/>
              </a:rPr>
              <a:t>3</a:t>
            </a:r>
            <a:endParaRPr lang="en-US" sz="6000" dirty="0"/>
          </a:p>
        </p:txBody>
      </p:sp>
      <p:sp>
        <p:nvSpPr>
          <p:cNvPr id="13" name="stat 3 label"/>
          <p:cNvSpPr txBox="1"/>
          <p:nvPr/>
        </p:nvSpPr>
        <p:spPr>
          <a:xfrm>
            <a:off x="4846320" y="2240280"/>
            <a:ext cx="1554480" cy="548640"/>
          </a:xfrm>
          <a:prstGeom prst="rect">
            <a:avLst/>
          </a:prstGeom>
          <a:noFill/>
          <a:ln/>
        </p:spPr>
        <p:txBody>
          <a:bodyPr wrap="square" lIns="0" tIns="0" rIns="0" bIns="0" rtlCol="0" anchor="t"/>
          <a:lstStyle/>
          <a:p>
            <a:pPr indent="0" marL="0">
              <a:buNone/>
            </a:pPr>
            <a:r>
              <a:rPr lang="en-US" sz="1400" b="1" dirty="0">
                <a:solidFill>
                  <a:schemeClr val="tx1"/>
                </a:solidFill>
              </a:rPr>
              <a:t>security scanners</a:t>
            </a:r>
            <a:endParaRPr lang="en-US" sz="1400" dirty="0"/>
          </a:p>
        </p:txBody>
      </p:sp>
      <p:sp>
        <p:nvSpPr>
          <p:cNvPr id="14" name="stat 3 detail"/>
          <p:cNvSpPr txBox="1"/>
          <p:nvPr/>
        </p:nvSpPr>
        <p:spPr>
          <a:xfrm>
            <a:off x="4846320" y="2834640"/>
            <a:ext cx="1554480" cy="457200"/>
          </a:xfrm>
          <a:prstGeom prst="rect">
            <a:avLst/>
          </a:prstGeom>
          <a:noFill/>
          <a:ln/>
        </p:spPr>
        <p:txBody>
          <a:bodyPr wrap="square" lIns="0" tIns="0" rIns="0" bIns="0" rtlCol="0" anchor="t"/>
          <a:lstStyle/>
          <a:p>
            <a:pPr indent="0" marL="0">
              <a:buNone/>
            </a:pPr>
            <a:r>
              <a:rPr lang="en-US" sz="1100" dirty="0">
                <a:solidFill>
                  <a:schemeClr val="tx2"/>
                </a:solidFill>
              </a:rPr>
              <a:t>Gitleaks, Trivy FS, Trivy image</a:t>
            </a:r>
            <a:endParaRPr lang="en-US" sz="1100" dirty="0"/>
          </a:p>
        </p:txBody>
      </p:sp>
      <p:sp>
        <p:nvSpPr>
          <p:cNvPr id="15" name="stat 4 card"/>
          <p:cNvSpPr/>
          <p:nvPr/>
        </p:nvSpPr>
        <p:spPr>
          <a:xfrm>
            <a:off x="6766560" y="1234440"/>
            <a:ext cx="1920240" cy="2148840"/>
          </a:xfrm>
          <a:prstGeom prst="roundRect">
            <a:avLst>
              <a:gd name="adj" fmla="val 3810"/>
            </a:avLst>
          </a:prstGeom>
          <a:solidFill>
            <a:schemeClr val="bg2"/>
          </a:solidFill>
          <a:ln/>
        </p:spPr>
      </p:sp>
      <p:sp>
        <p:nvSpPr>
          <p:cNvPr id="16" name="stat 4 value"/>
          <p:cNvSpPr txBox="1"/>
          <p:nvPr/>
        </p:nvSpPr>
        <p:spPr>
          <a:xfrm>
            <a:off x="6949440" y="1325880"/>
            <a:ext cx="1554480" cy="914400"/>
          </a:xfrm>
          <a:prstGeom prst="rect">
            <a:avLst/>
          </a:prstGeom>
          <a:noFill/>
          <a:ln/>
        </p:spPr>
        <p:txBody>
          <a:bodyPr wrap="square" lIns="0" tIns="0" rIns="0" bIns="0" rtlCol="0" anchor="ctr"/>
          <a:lstStyle/>
          <a:p>
            <a:pPr indent="0" marL="0">
              <a:buNone/>
            </a:pPr>
            <a:r>
              <a:rPr lang="en-US" sz="6000" b="1" dirty="0">
                <a:solidFill>
                  <a:schemeClr val="accent1"/>
                </a:solidFill>
                <a:latin typeface="Arial" pitchFamily="34" charset="0"/>
                <a:ea typeface="Arial" pitchFamily="34" charset="-122"/>
                <a:cs typeface="Arial" pitchFamily="34" charset="-120"/>
              </a:rPr>
              <a:t>2</a:t>
            </a:r>
            <a:endParaRPr lang="en-US" sz="6000" dirty="0"/>
          </a:p>
        </p:txBody>
      </p:sp>
      <p:sp>
        <p:nvSpPr>
          <p:cNvPr id="17" name="stat 4 label"/>
          <p:cNvSpPr txBox="1"/>
          <p:nvPr/>
        </p:nvSpPr>
        <p:spPr>
          <a:xfrm>
            <a:off x="6949440" y="2240280"/>
            <a:ext cx="1554480" cy="548640"/>
          </a:xfrm>
          <a:prstGeom prst="rect">
            <a:avLst/>
          </a:prstGeom>
          <a:noFill/>
          <a:ln/>
        </p:spPr>
        <p:txBody>
          <a:bodyPr wrap="square" lIns="0" tIns="0" rIns="0" bIns="0" rtlCol="0" anchor="t"/>
          <a:lstStyle/>
          <a:p>
            <a:pPr indent="0" marL="0">
              <a:buNone/>
            </a:pPr>
            <a:r>
              <a:rPr lang="en-US" sz="1400" b="1" dirty="0">
                <a:solidFill>
                  <a:schemeClr val="tx1"/>
                </a:solidFill>
              </a:rPr>
              <a:t>AWS availability zones</a:t>
            </a:r>
            <a:endParaRPr lang="en-US" sz="1400" dirty="0"/>
          </a:p>
        </p:txBody>
      </p:sp>
      <p:sp>
        <p:nvSpPr>
          <p:cNvPr id="18" name="stat 4 detail"/>
          <p:cNvSpPr txBox="1"/>
          <p:nvPr/>
        </p:nvSpPr>
        <p:spPr>
          <a:xfrm>
            <a:off x="6949440" y="2834640"/>
            <a:ext cx="1554480" cy="457200"/>
          </a:xfrm>
          <a:prstGeom prst="rect">
            <a:avLst/>
          </a:prstGeom>
          <a:noFill/>
          <a:ln/>
        </p:spPr>
        <p:txBody>
          <a:bodyPr wrap="square" lIns="0" tIns="0" rIns="0" bIns="0" rtlCol="0" anchor="t"/>
          <a:lstStyle/>
          <a:p>
            <a:pPr indent="0" marL="0">
              <a:buNone/>
            </a:pPr>
            <a:r>
              <a:rPr lang="en-US" sz="1100" dirty="0">
                <a:solidFill>
                  <a:schemeClr val="tx2"/>
                </a:solidFill>
              </a:rPr>
              <a:t>VPC, EKS and RDS via Terraform</a:t>
            </a:r>
            <a:endParaRPr lang="en-US" sz="1100" dirty="0"/>
          </a:p>
        </p:txBody>
      </p:sp>
      <p:sp>
        <p:nvSpPr>
          <p:cNvPr id="19" name="goal"/>
          <p:cNvSpPr txBox="1"/>
          <p:nvPr/>
        </p:nvSpPr>
        <p:spPr>
          <a:xfrm>
            <a:off x="457200" y="3703320"/>
            <a:ext cx="8229600" cy="731520"/>
          </a:xfrm>
          <a:prstGeom prst="rect">
            <a:avLst/>
          </a:prstGeom>
          <a:noFill/>
          <a:ln/>
        </p:spPr>
        <p:txBody>
          <a:bodyPr wrap="square" lIns="0" tIns="0" rIns="0" bIns="0" rtlCol="0" anchor="ctr"/>
          <a:lstStyle/>
          <a:p>
            <a:pPr indent="0" marL="0">
              <a:buNone/>
            </a:pPr>
            <a:r>
              <a:rPr lang="en-US" sz="1500" b="1" dirty="0">
                <a:solidFill>
                  <a:schemeClr val="tx1"/>
                </a:solidFill>
              </a:rPr>
              <a:t>Goal: </a:t>
            </a:r>
            <a:pPr indent="0" marL="0">
              <a:buNone/>
            </a:pPr>
            <a:r>
              <a:rPr lang="en-US" sz="1500" dirty="0">
                <a:solidFill>
                  <a:schemeClr val="tx2"/>
                </a:solidFill>
              </a:rPr>
              <a:t>every change goes from git push to running pods with no manual steps, and is tested, scanned and observable on the way.</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Architecture overview</a:t>
            </a:r>
            <a:endParaRPr lang="en-US" sz="3000" dirty="0"/>
          </a:p>
        </p:txBody>
      </p:sp>
      <p:sp>
        <p:nvSpPr>
          <p:cNvPr id="3" name="zone delivery"/>
          <p:cNvSpPr txBox="1"/>
          <p:nvPr/>
        </p:nvSpPr>
        <p:spPr>
          <a:xfrm>
            <a:off x="457200" y="1097280"/>
            <a:ext cx="2743200" cy="228600"/>
          </a:xfrm>
          <a:prstGeom prst="rect">
            <a:avLst/>
          </a:prstGeom>
          <a:noFill/>
          <a:ln/>
        </p:spPr>
        <p:txBody>
          <a:bodyPr wrap="square" lIns="0" tIns="0" rIns="0" bIns="0" rtlCol="0" anchor="ctr"/>
          <a:lstStyle/>
          <a:p>
            <a:pPr indent="0" marL="0">
              <a:buNone/>
            </a:pPr>
            <a:r>
              <a:rPr lang="en-US" sz="1000" b="1" spc="200" kern="0" dirty="0">
                <a:solidFill>
                  <a:schemeClr val="accent4"/>
                </a:solidFill>
              </a:rPr>
              <a:t>DELIVERY</a:t>
            </a:r>
            <a:endParaRPr lang="en-US" sz="1000" dirty="0"/>
          </a:p>
        </p:txBody>
      </p:sp>
      <p:sp>
        <p:nvSpPr>
          <p:cNvPr id="4" name="zone cluster"/>
          <p:cNvSpPr txBox="1"/>
          <p:nvPr/>
        </p:nvSpPr>
        <p:spPr>
          <a:xfrm>
            <a:off x="457200" y="2514600"/>
            <a:ext cx="3657600" cy="228600"/>
          </a:xfrm>
          <a:prstGeom prst="rect">
            <a:avLst/>
          </a:prstGeom>
          <a:noFill/>
          <a:ln/>
        </p:spPr>
        <p:txBody>
          <a:bodyPr wrap="square" lIns="0" tIns="0" rIns="0" bIns="0" rtlCol="0" anchor="ctr"/>
          <a:lstStyle/>
          <a:p>
            <a:pPr indent="0" marL="0">
              <a:buNone/>
            </a:pPr>
            <a:r>
              <a:rPr lang="en-US" sz="1000" b="1" spc="200" kern="0" dirty="0">
                <a:solidFill>
                  <a:schemeClr val="accent4"/>
                </a:solidFill>
              </a:rPr>
              <a:t>KUBERNETES CLUSTER</a:t>
            </a:r>
            <a:endParaRPr lang="en-US" sz="1000" dirty="0"/>
          </a:p>
        </p:txBody>
      </p:sp>
      <p:sp>
        <p:nvSpPr>
          <p:cNvPr id="5" name="github box"/>
          <p:cNvSpPr/>
          <p:nvPr/>
        </p:nvSpPr>
        <p:spPr>
          <a:xfrm>
            <a:off x="457200" y="1371600"/>
            <a:ext cx="1463040" cy="685800"/>
          </a:xfrm>
          <a:prstGeom prst="roundRect">
            <a:avLst>
              <a:gd name="adj" fmla="val 10667"/>
            </a:avLst>
          </a:prstGeom>
          <a:solidFill>
            <a:schemeClr val="bg2"/>
          </a:solidFill>
          <a:ln/>
        </p:spPr>
      </p:sp>
      <p:pic>
        <p:nvPicPr>
          <p:cNvPr id="6" name="github icon" descr="preencoded.png">    </p:cNvPr>
          <p:cNvPicPr>
            <a:picLocks noChangeAspect="1"/>
          </p:cNvPicPr>
          <p:nvPr/>
        </p:nvPicPr>
        <p:blipFill>
          <a:blip r:embed="rId1"/>
          <a:stretch>
            <a:fillRect/>
          </a:stretch>
        </p:blipFill>
        <p:spPr>
          <a:xfrm>
            <a:off x="566928" y="1568196"/>
            <a:ext cx="292608" cy="292608"/>
          </a:xfrm>
          <a:prstGeom prst="rect">
            <a:avLst/>
          </a:prstGeom>
        </p:spPr>
      </p:pic>
      <p:sp>
        <p:nvSpPr>
          <p:cNvPr id="7" name="github label"/>
          <p:cNvSpPr txBox="1"/>
          <p:nvPr/>
        </p:nvSpPr>
        <p:spPr>
          <a:xfrm>
            <a:off x="932688" y="1371600"/>
            <a:ext cx="914400" cy="685800"/>
          </a:xfrm>
          <a:prstGeom prst="rect">
            <a:avLst/>
          </a:prstGeom>
          <a:noFill/>
          <a:ln/>
        </p:spPr>
        <p:txBody>
          <a:bodyPr wrap="square" lIns="0" tIns="0" rIns="0" bIns="0" rtlCol="0" anchor="ctr"/>
          <a:lstStyle/>
          <a:p>
            <a:pPr indent="0" marL="0">
              <a:buNone/>
            </a:pPr>
            <a:r>
              <a:rPr lang="en-US" sz="1200" b="1" dirty="0">
                <a:solidFill>
                  <a:schemeClr val="tx1"/>
                </a:solidFill>
              </a:rPr>
              <a:t>GitHub</a:t>
            </a:r>
            <a:endParaRPr lang="en-US" sz="1200" dirty="0"/>
          </a:p>
          <a:p>
            <a:pPr indent="0" marL="0">
              <a:buNone/>
            </a:pPr>
            <a:r>
              <a:rPr lang="en-US" sz="1000" dirty="0">
                <a:solidFill>
                  <a:schemeClr val="tx2"/>
                </a:solidFill>
              </a:rPr>
              <a:t>source of truth</a:t>
            </a:r>
            <a:endParaRPr lang="en-US" sz="1200" dirty="0"/>
          </a:p>
        </p:txBody>
      </p:sp>
      <p:sp>
        <p:nvSpPr>
          <p:cNvPr id="8" name="actions box"/>
          <p:cNvSpPr/>
          <p:nvPr/>
        </p:nvSpPr>
        <p:spPr>
          <a:xfrm>
            <a:off x="2606040" y="1371600"/>
            <a:ext cx="1600200" cy="685800"/>
          </a:xfrm>
          <a:prstGeom prst="roundRect">
            <a:avLst>
              <a:gd name="adj" fmla="val 10667"/>
            </a:avLst>
          </a:prstGeom>
          <a:solidFill>
            <a:schemeClr val="bg2"/>
          </a:solidFill>
          <a:ln/>
        </p:spPr>
      </p:sp>
      <p:pic>
        <p:nvPicPr>
          <p:cNvPr id="9" name="actions icon" descr="preencoded.png">    </p:cNvPr>
          <p:cNvPicPr>
            <a:picLocks noChangeAspect="1"/>
          </p:cNvPicPr>
          <p:nvPr/>
        </p:nvPicPr>
        <p:blipFill>
          <a:blip r:embed="rId2"/>
          <a:stretch>
            <a:fillRect/>
          </a:stretch>
        </p:blipFill>
        <p:spPr>
          <a:xfrm>
            <a:off x="2715768" y="1568196"/>
            <a:ext cx="292608" cy="292608"/>
          </a:xfrm>
          <a:prstGeom prst="rect">
            <a:avLst/>
          </a:prstGeom>
        </p:spPr>
      </p:pic>
      <p:sp>
        <p:nvSpPr>
          <p:cNvPr id="10" name="actions label"/>
          <p:cNvSpPr txBox="1"/>
          <p:nvPr/>
        </p:nvSpPr>
        <p:spPr>
          <a:xfrm>
            <a:off x="3081528" y="1371600"/>
            <a:ext cx="1051560" cy="685800"/>
          </a:xfrm>
          <a:prstGeom prst="rect">
            <a:avLst/>
          </a:prstGeom>
          <a:noFill/>
          <a:ln/>
        </p:spPr>
        <p:txBody>
          <a:bodyPr wrap="square" lIns="0" tIns="0" rIns="0" bIns="0" rtlCol="0" anchor="ctr"/>
          <a:lstStyle/>
          <a:p>
            <a:pPr indent="0" marL="0">
              <a:buNone/>
            </a:pPr>
            <a:r>
              <a:rPr lang="en-US" sz="1200" b="1" dirty="0">
                <a:solidFill>
                  <a:schemeClr val="tx1"/>
                </a:solidFill>
              </a:rPr>
              <a:t>GitHub Actions</a:t>
            </a:r>
            <a:endParaRPr lang="en-US" sz="1200" dirty="0"/>
          </a:p>
          <a:p>
            <a:pPr indent="0" marL="0">
              <a:buNone/>
            </a:pPr>
            <a:r>
              <a:rPr lang="en-US" sz="1000" dirty="0">
                <a:solidFill>
                  <a:schemeClr val="tx2"/>
                </a:solidFill>
              </a:rPr>
              <a:t>build, test, scan</a:t>
            </a:r>
            <a:endParaRPr lang="en-US" sz="1200" dirty="0"/>
          </a:p>
        </p:txBody>
      </p:sp>
      <p:sp>
        <p:nvSpPr>
          <p:cNvPr id="11" name="ghcr box"/>
          <p:cNvSpPr/>
          <p:nvPr/>
        </p:nvSpPr>
        <p:spPr>
          <a:xfrm>
            <a:off x="4892040" y="1371600"/>
            <a:ext cx="1463040" cy="685800"/>
          </a:xfrm>
          <a:prstGeom prst="roundRect">
            <a:avLst>
              <a:gd name="adj" fmla="val 10667"/>
            </a:avLst>
          </a:prstGeom>
          <a:solidFill>
            <a:schemeClr val="bg2"/>
          </a:solidFill>
          <a:ln/>
        </p:spPr>
      </p:sp>
      <p:pic>
        <p:nvPicPr>
          <p:cNvPr id="12" name="ghcr icon" descr="preencoded.png">    </p:cNvPr>
          <p:cNvPicPr>
            <a:picLocks noChangeAspect="1"/>
          </p:cNvPicPr>
          <p:nvPr/>
        </p:nvPicPr>
        <p:blipFill>
          <a:blip r:embed="rId3"/>
          <a:stretch>
            <a:fillRect/>
          </a:stretch>
        </p:blipFill>
        <p:spPr>
          <a:xfrm>
            <a:off x="5001768" y="1568196"/>
            <a:ext cx="292608" cy="292608"/>
          </a:xfrm>
          <a:prstGeom prst="rect">
            <a:avLst/>
          </a:prstGeom>
        </p:spPr>
      </p:pic>
      <p:sp>
        <p:nvSpPr>
          <p:cNvPr id="13" name="ghcr label"/>
          <p:cNvSpPr txBox="1"/>
          <p:nvPr/>
        </p:nvSpPr>
        <p:spPr>
          <a:xfrm>
            <a:off x="5367528" y="1371600"/>
            <a:ext cx="914400" cy="685800"/>
          </a:xfrm>
          <a:prstGeom prst="rect">
            <a:avLst/>
          </a:prstGeom>
          <a:noFill/>
          <a:ln/>
        </p:spPr>
        <p:txBody>
          <a:bodyPr wrap="square" lIns="0" tIns="0" rIns="0" bIns="0" rtlCol="0" anchor="ctr"/>
          <a:lstStyle/>
          <a:p>
            <a:pPr indent="0" marL="0">
              <a:buNone/>
            </a:pPr>
            <a:r>
              <a:rPr lang="en-US" sz="1200" b="1" dirty="0">
                <a:solidFill>
                  <a:schemeClr val="tx1"/>
                </a:solidFill>
              </a:rPr>
              <a:t>GHCR</a:t>
            </a:r>
            <a:endParaRPr lang="en-US" sz="1200" dirty="0"/>
          </a:p>
          <a:p>
            <a:pPr indent="0" marL="0">
              <a:buNone/>
            </a:pPr>
            <a:r>
              <a:rPr lang="en-US" sz="1000" dirty="0">
                <a:solidFill>
                  <a:schemeClr val="tx2"/>
                </a:solidFill>
              </a:rPr>
              <a:t>image:&lt;sha&gt;</a:t>
            </a:r>
            <a:endParaRPr lang="en-US" sz="1200" dirty="0"/>
          </a:p>
        </p:txBody>
      </p:sp>
      <p:sp>
        <p:nvSpPr>
          <p:cNvPr id="14" name="argo box"/>
          <p:cNvSpPr/>
          <p:nvPr/>
        </p:nvSpPr>
        <p:spPr>
          <a:xfrm>
            <a:off x="7040880" y="1371600"/>
            <a:ext cx="1645920" cy="685800"/>
          </a:xfrm>
          <a:prstGeom prst="roundRect">
            <a:avLst>
              <a:gd name="adj" fmla="val 10667"/>
            </a:avLst>
          </a:prstGeom>
          <a:solidFill>
            <a:schemeClr val="bg2"/>
          </a:solidFill>
          <a:ln/>
        </p:spPr>
      </p:sp>
      <p:pic>
        <p:nvPicPr>
          <p:cNvPr id="15" name="argo icon" descr="preencoded.png">    </p:cNvPr>
          <p:cNvPicPr>
            <a:picLocks noChangeAspect="1"/>
          </p:cNvPicPr>
          <p:nvPr/>
        </p:nvPicPr>
        <p:blipFill>
          <a:blip r:embed="rId4"/>
          <a:stretch>
            <a:fillRect/>
          </a:stretch>
        </p:blipFill>
        <p:spPr>
          <a:xfrm>
            <a:off x="7150608" y="1568196"/>
            <a:ext cx="292608" cy="292608"/>
          </a:xfrm>
          <a:prstGeom prst="rect">
            <a:avLst/>
          </a:prstGeom>
        </p:spPr>
      </p:pic>
      <p:sp>
        <p:nvSpPr>
          <p:cNvPr id="16" name="argo label"/>
          <p:cNvSpPr txBox="1"/>
          <p:nvPr/>
        </p:nvSpPr>
        <p:spPr>
          <a:xfrm>
            <a:off x="7516368" y="1371600"/>
            <a:ext cx="1097280" cy="685800"/>
          </a:xfrm>
          <a:prstGeom prst="rect">
            <a:avLst/>
          </a:prstGeom>
          <a:noFill/>
          <a:ln/>
        </p:spPr>
        <p:txBody>
          <a:bodyPr wrap="square" lIns="0" tIns="0" rIns="0" bIns="0" rtlCol="0" anchor="ctr"/>
          <a:lstStyle/>
          <a:p>
            <a:pPr indent="0" marL="0">
              <a:buNone/>
            </a:pPr>
            <a:r>
              <a:rPr lang="en-US" sz="1200" b="1" dirty="0">
                <a:solidFill>
                  <a:schemeClr val="tx1"/>
                </a:solidFill>
              </a:rPr>
              <a:t>Argo CD</a:t>
            </a:r>
            <a:endParaRPr lang="en-US" sz="1200" dirty="0"/>
          </a:p>
          <a:p>
            <a:pPr indent="0" marL="0">
              <a:buNone/>
            </a:pPr>
            <a:r>
              <a:rPr lang="en-US" sz="1000" dirty="0">
                <a:solidFill>
                  <a:schemeClr val="tx2"/>
                </a:solidFill>
              </a:rPr>
              <a:t>auto sync</a:t>
            </a:r>
            <a:endParaRPr lang="en-US" sz="1200" dirty="0"/>
          </a:p>
        </p:txBody>
      </p:sp>
      <p:sp>
        <p:nvSpPr>
          <p:cNvPr id="17" name="arrow github actions"/>
          <p:cNvSpPr/>
          <p:nvPr/>
        </p:nvSpPr>
        <p:spPr>
          <a:xfrm>
            <a:off x="1920240" y="1714500"/>
            <a:ext cx="685800" cy="914"/>
          </a:xfrm>
          <a:prstGeom prst="line">
            <a:avLst/>
          </a:prstGeom>
          <a:noFill/>
          <a:ln w="19050">
            <a:solidFill>
              <a:schemeClr val="accent4"/>
            </a:solidFill>
            <a:prstDash val="solid"/>
            <a:tailEnd type="triangle"/>
          </a:ln>
        </p:spPr>
      </p:sp>
      <p:sp>
        <p:nvSpPr>
          <p:cNvPr id="18" name="arrow actions ghcr"/>
          <p:cNvSpPr/>
          <p:nvPr/>
        </p:nvSpPr>
        <p:spPr>
          <a:xfrm>
            <a:off x="4206240" y="1714500"/>
            <a:ext cx="685800" cy="914"/>
          </a:xfrm>
          <a:prstGeom prst="line">
            <a:avLst/>
          </a:prstGeom>
          <a:noFill/>
          <a:ln w="19050">
            <a:solidFill>
              <a:schemeClr val="accent4"/>
            </a:solidFill>
            <a:prstDash val="solid"/>
            <a:tailEnd type="triangle"/>
          </a:ln>
        </p:spPr>
      </p:sp>
      <p:sp>
        <p:nvSpPr>
          <p:cNvPr id="19" name="arrow ghcr argo"/>
          <p:cNvSpPr/>
          <p:nvPr/>
        </p:nvSpPr>
        <p:spPr>
          <a:xfrm>
            <a:off x="6355080" y="1714500"/>
            <a:ext cx="685800" cy="914"/>
          </a:xfrm>
          <a:prstGeom prst="line">
            <a:avLst/>
          </a:prstGeom>
          <a:noFill/>
          <a:ln w="19050">
            <a:solidFill>
              <a:schemeClr val="accent4"/>
            </a:solidFill>
            <a:prstDash val="solid"/>
            <a:tailEnd type="triangle"/>
          </a:ln>
        </p:spPr>
      </p:sp>
      <p:sp>
        <p:nvSpPr>
          <p:cNvPr id="20" name="cluster boundary"/>
          <p:cNvSpPr/>
          <p:nvPr/>
        </p:nvSpPr>
        <p:spPr>
          <a:xfrm>
            <a:off x="457200" y="2788920"/>
            <a:ext cx="8229600" cy="1828800"/>
          </a:xfrm>
          <a:prstGeom prst="roundRect">
            <a:avLst>
              <a:gd name="adj" fmla="val 4000"/>
            </a:avLst>
          </a:prstGeom>
          <a:solidFill>
            <a:schemeClr val="bg1"/>
          </a:solidFill>
          <a:ln w="12700">
            <a:solidFill>
              <a:schemeClr val="accent4"/>
            </a:solidFill>
            <a:prstDash val="dash"/>
          </a:ln>
        </p:spPr>
      </p:sp>
      <p:sp>
        <p:nvSpPr>
          <p:cNvPr id="21" name="ingress box"/>
          <p:cNvSpPr/>
          <p:nvPr/>
        </p:nvSpPr>
        <p:spPr>
          <a:xfrm>
            <a:off x="640080" y="2971800"/>
            <a:ext cx="1463040" cy="685800"/>
          </a:xfrm>
          <a:prstGeom prst="roundRect">
            <a:avLst>
              <a:gd name="adj" fmla="val 10667"/>
            </a:avLst>
          </a:prstGeom>
          <a:solidFill>
            <a:schemeClr val="bg2"/>
          </a:solidFill>
          <a:ln/>
        </p:spPr>
      </p:sp>
      <p:pic>
        <p:nvPicPr>
          <p:cNvPr id="22" name="ingress icon" descr="preencoded.png">    </p:cNvPr>
          <p:cNvPicPr>
            <a:picLocks noChangeAspect="1"/>
          </p:cNvPicPr>
          <p:nvPr/>
        </p:nvPicPr>
        <p:blipFill>
          <a:blip r:embed="rId5"/>
          <a:stretch>
            <a:fillRect/>
          </a:stretch>
        </p:blipFill>
        <p:spPr>
          <a:xfrm>
            <a:off x="749808" y="3168396"/>
            <a:ext cx="292608" cy="292608"/>
          </a:xfrm>
          <a:prstGeom prst="rect">
            <a:avLst/>
          </a:prstGeom>
        </p:spPr>
      </p:pic>
      <p:sp>
        <p:nvSpPr>
          <p:cNvPr id="23" name="ingress label"/>
          <p:cNvSpPr txBox="1"/>
          <p:nvPr/>
        </p:nvSpPr>
        <p:spPr>
          <a:xfrm>
            <a:off x="1115568" y="2971800"/>
            <a:ext cx="914400" cy="685800"/>
          </a:xfrm>
          <a:prstGeom prst="rect">
            <a:avLst/>
          </a:prstGeom>
          <a:noFill/>
          <a:ln/>
        </p:spPr>
        <p:txBody>
          <a:bodyPr wrap="square" lIns="0" tIns="0" rIns="0" bIns="0" rtlCol="0" anchor="ctr"/>
          <a:lstStyle/>
          <a:p>
            <a:pPr indent="0" marL="0">
              <a:buNone/>
            </a:pPr>
            <a:r>
              <a:rPr lang="en-US" sz="1200" b="1" dirty="0">
                <a:solidFill>
                  <a:schemeClr val="tx1"/>
                </a:solidFill>
              </a:rPr>
              <a:t>Ingress</a:t>
            </a:r>
            <a:endParaRPr lang="en-US" sz="1200" dirty="0"/>
          </a:p>
          <a:p>
            <a:pPr indent="0" marL="0">
              <a:buNone/>
            </a:pPr>
            <a:r>
              <a:rPr lang="en-US" sz="1000" dirty="0">
                <a:solidFill>
                  <a:schemeClr val="tx2"/>
                </a:solidFill>
              </a:rPr>
              <a:t>orders.local</a:t>
            </a:r>
            <a:endParaRPr lang="en-US" sz="1200" dirty="0"/>
          </a:p>
        </p:txBody>
      </p:sp>
      <p:sp>
        <p:nvSpPr>
          <p:cNvPr id="24" name="order box"/>
          <p:cNvSpPr/>
          <p:nvPr/>
        </p:nvSpPr>
        <p:spPr>
          <a:xfrm>
            <a:off x="2697480" y="2971800"/>
            <a:ext cx="1691640" cy="685800"/>
          </a:xfrm>
          <a:prstGeom prst="roundRect">
            <a:avLst>
              <a:gd name="adj" fmla="val 10667"/>
            </a:avLst>
          </a:prstGeom>
          <a:solidFill>
            <a:schemeClr val="accent6"/>
          </a:solidFill>
          <a:ln/>
        </p:spPr>
      </p:sp>
      <p:pic>
        <p:nvPicPr>
          <p:cNvPr id="25" name="order icon" descr="preencoded.png">    </p:cNvPr>
          <p:cNvPicPr>
            <a:picLocks noChangeAspect="1"/>
          </p:cNvPicPr>
          <p:nvPr/>
        </p:nvPicPr>
        <p:blipFill>
          <a:blip r:embed="rId6"/>
          <a:stretch>
            <a:fillRect/>
          </a:stretch>
        </p:blipFill>
        <p:spPr>
          <a:xfrm>
            <a:off x="2807208" y="3168396"/>
            <a:ext cx="292608" cy="292608"/>
          </a:xfrm>
          <a:prstGeom prst="rect">
            <a:avLst/>
          </a:prstGeom>
        </p:spPr>
      </p:pic>
      <p:sp>
        <p:nvSpPr>
          <p:cNvPr id="26" name="order label"/>
          <p:cNvSpPr txBox="1"/>
          <p:nvPr/>
        </p:nvSpPr>
        <p:spPr>
          <a:xfrm>
            <a:off x="3172968" y="2971800"/>
            <a:ext cx="1143000" cy="685800"/>
          </a:xfrm>
          <a:prstGeom prst="rect">
            <a:avLst/>
          </a:prstGeom>
          <a:noFill/>
          <a:ln/>
        </p:spPr>
        <p:txBody>
          <a:bodyPr wrap="square" lIns="0" tIns="0" rIns="0" bIns="0" rtlCol="0" anchor="ctr"/>
          <a:lstStyle/>
          <a:p>
            <a:pPr indent="0" marL="0">
              <a:buNone/>
            </a:pPr>
            <a:r>
              <a:rPr lang="en-US" sz="1200" b="1" dirty="0">
                <a:solidFill>
                  <a:schemeClr val="tx1"/>
                </a:solidFill>
              </a:rPr>
              <a:t>order-service</a:t>
            </a:r>
            <a:endParaRPr lang="en-US" sz="1200" dirty="0"/>
          </a:p>
          <a:p>
            <a:pPr indent="0" marL="0">
              <a:buNone/>
            </a:pPr>
            <a:r>
              <a:rPr lang="en-US" sz="1000" dirty="0">
                <a:solidFill>
                  <a:schemeClr val="tx2"/>
                </a:solidFill>
              </a:rPr>
              <a:t>2 to 5 pods (HPA)</a:t>
            </a:r>
            <a:endParaRPr lang="en-US" sz="1200" dirty="0"/>
          </a:p>
        </p:txBody>
      </p:sp>
      <p:sp>
        <p:nvSpPr>
          <p:cNvPr id="27" name="inventory box"/>
          <p:cNvSpPr/>
          <p:nvPr/>
        </p:nvSpPr>
        <p:spPr>
          <a:xfrm>
            <a:off x="4937760" y="2971800"/>
            <a:ext cx="1691640" cy="685800"/>
          </a:xfrm>
          <a:prstGeom prst="roundRect">
            <a:avLst>
              <a:gd name="adj" fmla="val 10667"/>
            </a:avLst>
          </a:prstGeom>
          <a:solidFill>
            <a:schemeClr val="accent6"/>
          </a:solidFill>
          <a:ln/>
        </p:spPr>
      </p:sp>
      <p:pic>
        <p:nvPicPr>
          <p:cNvPr id="28" name="inventory icon" descr="preencoded.png">    </p:cNvPr>
          <p:cNvPicPr>
            <a:picLocks noChangeAspect="1"/>
          </p:cNvPicPr>
          <p:nvPr/>
        </p:nvPicPr>
        <p:blipFill>
          <a:blip r:embed="rId7"/>
          <a:stretch>
            <a:fillRect/>
          </a:stretch>
        </p:blipFill>
        <p:spPr>
          <a:xfrm>
            <a:off x="5047488" y="3168396"/>
            <a:ext cx="292608" cy="292608"/>
          </a:xfrm>
          <a:prstGeom prst="rect">
            <a:avLst/>
          </a:prstGeom>
        </p:spPr>
      </p:pic>
      <p:sp>
        <p:nvSpPr>
          <p:cNvPr id="29" name="inventory label"/>
          <p:cNvSpPr txBox="1"/>
          <p:nvPr/>
        </p:nvSpPr>
        <p:spPr>
          <a:xfrm>
            <a:off x="5413248" y="2971800"/>
            <a:ext cx="1143000" cy="685800"/>
          </a:xfrm>
          <a:prstGeom prst="rect">
            <a:avLst/>
          </a:prstGeom>
          <a:noFill/>
          <a:ln/>
        </p:spPr>
        <p:txBody>
          <a:bodyPr wrap="square" lIns="0" tIns="0" rIns="0" bIns="0" rtlCol="0" anchor="ctr"/>
          <a:lstStyle/>
          <a:p>
            <a:pPr indent="0" marL="0">
              <a:buNone/>
            </a:pPr>
            <a:r>
              <a:rPr lang="en-US" sz="1200" b="1" dirty="0">
                <a:solidFill>
                  <a:schemeClr val="tx1"/>
                </a:solidFill>
              </a:rPr>
              <a:t>inventory-service</a:t>
            </a:r>
            <a:endParaRPr lang="en-US" sz="1200" dirty="0"/>
          </a:p>
          <a:p>
            <a:pPr indent="0" marL="0">
              <a:buNone/>
            </a:pPr>
            <a:r>
              <a:rPr lang="en-US" sz="1000" dirty="0">
                <a:solidFill>
                  <a:schemeClr val="tx2"/>
                </a:solidFill>
              </a:rPr>
              <a:t>stock checks</a:t>
            </a:r>
            <a:endParaRPr lang="en-US" sz="1200" dirty="0"/>
          </a:p>
        </p:txBody>
      </p:sp>
      <p:sp>
        <p:nvSpPr>
          <p:cNvPr id="30" name="postgres box"/>
          <p:cNvSpPr/>
          <p:nvPr/>
        </p:nvSpPr>
        <p:spPr>
          <a:xfrm>
            <a:off x="4937760" y="3794760"/>
            <a:ext cx="1691640" cy="685800"/>
          </a:xfrm>
          <a:prstGeom prst="roundRect">
            <a:avLst>
              <a:gd name="adj" fmla="val 10667"/>
            </a:avLst>
          </a:prstGeom>
          <a:solidFill>
            <a:schemeClr val="bg2"/>
          </a:solidFill>
          <a:ln/>
        </p:spPr>
      </p:sp>
      <p:pic>
        <p:nvPicPr>
          <p:cNvPr id="31" name="postgres icon" descr="preencoded.png">    </p:cNvPr>
          <p:cNvPicPr>
            <a:picLocks noChangeAspect="1"/>
          </p:cNvPicPr>
          <p:nvPr/>
        </p:nvPicPr>
        <p:blipFill>
          <a:blip r:embed="rId8"/>
          <a:stretch>
            <a:fillRect/>
          </a:stretch>
        </p:blipFill>
        <p:spPr>
          <a:xfrm>
            <a:off x="5047488" y="3991356"/>
            <a:ext cx="292608" cy="292608"/>
          </a:xfrm>
          <a:prstGeom prst="rect">
            <a:avLst/>
          </a:prstGeom>
        </p:spPr>
      </p:pic>
      <p:sp>
        <p:nvSpPr>
          <p:cNvPr id="32" name="postgres label"/>
          <p:cNvSpPr txBox="1"/>
          <p:nvPr/>
        </p:nvSpPr>
        <p:spPr>
          <a:xfrm>
            <a:off x="5413248" y="3794760"/>
            <a:ext cx="1143000" cy="685800"/>
          </a:xfrm>
          <a:prstGeom prst="rect">
            <a:avLst/>
          </a:prstGeom>
          <a:noFill/>
          <a:ln/>
        </p:spPr>
        <p:txBody>
          <a:bodyPr wrap="square" lIns="0" tIns="0" rIns="0" bIns="0" rtlCol="0" anchor="ctr"/>
          <a:lstStyle/>
          <a:p>
            <a:pPr indent="0" marL="0">
              <a:buNone/>
            </a:pPr>
            <a:r>
              <a:rPr lang="en-US" sz="1200" b="1" dirty="0">
                <a:solidFill>
                  <a:schemeClr val="tx1"/>
                </a:solidFill>
              </a:rPr>
              <a:t>PostgreSQL 17</a:t>
            </a:r>
            <a:endParaRPr lang="en-US" sz="1200" dirty="0"/>
          </a:p>
          <a:p>
            <a:pPr indent="0" marL="0">
              <a:buNone/>
            </a:pPr>
            <a:r>
              <a:rPr lang="en-US" sz="1000" dirty="0">
                <a:solidFill>
                  <a:schemeClr val="tx2"/>
                </a:solidFill>
              </a:rPr>
              <a:t>PVC 1Gi</a:t>
            </a:r>
            <a:endParaRPr lang="en-US" sz="1200" dirty="0"/>
          </a:p>
        </p:txBody>
      </p:sp>
      <p:sp>
        <p:nvSpPr>
          <p:cNvPr id="33" name="prometheus box"/>
          <p:cNvSpPr/>
          <p:nvPr/>
        </p:nvSpPr>
        <p:spPr>
          <a:xfrm>
            <a:off x="7040880" y="2971800"/>
            <a:ext cx="1463040" cy="685800"/>
          </a:xfrm>
          <a:prstGeom prst="roundRect">
            <a:avLst>
              <a:gd name="adj" fmla="val 10667"/>
            </a:avLst>
          </a:prstGeom>
          <a:solidFill>
            <a:schemeClr val="bg2"/>
          </a:solidFill>
          <a:ln/>
        </p:spPr>
      </p:sp>
      <p:pic>
        <p:nvPicPr>
          <p:cNvPr id="34" name="prometheus icon" descr="preencoded.png">    </p:cNvPr>
          <p:cNvPicPr>
            <a:picLocks noChangeAspect="1"/>
          </p:cNvPicPr>
          <p:nvPr/>
        </p:nvPicPr>
        <p:blipFill>
          <a:blip r:embed="rId9"/>
          <a:stretch>
            <a:fillRect/>
          </a:stretch>
        </p:blipFill>
        <p:spPr>
          <a:xfrm>
            <a:off x="7150608" y="3168396"/>
            <a:ext cx="292608" cy="292608"/>
          </a:xfrm>
          <a:prstGeom prst="rect">
            <a:avLst/>
          </a:prstGeom>
        </p:spPr>
      </p:pic>
      <p:sp>
        <p:nvSpPr>
          <p:cNvPr id="35" name="prometheus label"/>
          <p:cNvSpPr txBox="1"/>
          <p:nvPr/>
        </p:nvSpPr>
        <p:spPr>
          <a:xfrm>
            <a:off x="7516368" y="2971800"/>
            <a:ext cx="914400" cy="685800"/>
          </a:xfrm>
          <a:prstGeom prst="rect">
            <a:avLst/>
          </a:prstGeom>
          <a:noFill/>
          <a:ln/>
        </p:spPr>
        <p:txBody>
          <a:bodyPr wrap="square" lIns="0" tIns="0" rIns="0" bIns="0" rtlCol="0" anchor="ctr"/>
          <a:lstStyle/>
          <a:p>
            <a:pPr indent="0" marL="0">
              <a:buNone/>
            </a:pPr>
            <a:r>
              <a:rPr lang="en-US" sz="1200" b="1" dirty="0">
                <a:solidFill>
                  <a:schemeClr val="tx1"/>
                </a:solidFill>
              </a:rPr>
              <a:t>Prometheus</a:t>
            </a:r>
            <a:endParaRPr lang="en-US" sz="1200" dirty="0"/>
          </a:p>
          <a:p>
            <a:pPr indent="0" marL="0">
              <a:buNone/>
            </a:pPr>
            <a:r>
              <a:rPr lang="en-US" sz="1000" dirty="0">
                <a:solidFill>
                  <a:schemeClr val="tx2"/>
                </a:solidFill>
              </a:rPr>
              <a:t>scrape 5s</a:t>
            </a:r>
            <a:endParaRPr lang="en-US" sz="1200" dirty="0"/>
          </a:p>
        </p:txBody>
      </p:sp>
      <p:sp>
        <p:nvSpPr>
          <p:cNvPr id="36" name="grafana box"/>
          <p:cNvSpPr/>
          <p:nvPr/>
        </p:nvSpPr>
        <p:spPr>
          <a:xfrm>
            <a:off x="7040880" y="3794760"/>
            <a:ext cx="1463040" cy="685800"/>
          </a:xfrm>
          <a:prstGeom prst="roundRect">
            <a:avLst>
              <a:gd name="adj" fmla="val 10667"/>
            </a:avLst>
          </a:prstGeom>
          <a:solidFill>
            <a:schemeClr val="bg2"/>
          </a:solidFill>
          <a:ln/>
        </p:spPr>
      </p:sp>
      <p:pic>
        <p:nvPicPr>
          <p:cNvPr id="37" name="grafana icon" descr="preencoded.png">    </p:cNvPr>
          <p:cNvPicPr>
            <a:picLocks noChangeAspect="1"/>
          </p:cNvPicPr>
          <p:nvPr/>
        </p:nvPicPr>
        <p:blipFill>
          <a:blip r:embed="rId10"/>
          <a:stretch>
            <a:fillRect/>
          </a:stretch>
        </p:blipFill>
        <p:spPr>
          <a:xfrm>
            <a:off x="7150608" y="3991356"/>
            <a:ext cx="292608" cy="292608"/>
          </a:xfrm>
          <a:prstGeom prst="rect">
            <a:avLst/>
          </a:prstGeom>
        </p:spPr>
      </p:pic>
      <p:sp>
        <p:nvSpPr>
          <p:cNvPr id="38" name="grafana label"/>
          <p:cNvSpPr txBox="1"/>
          <p:nvPr/>
        </p:nvSpPr>
        <p:spPr>
          <a:xfrm>
            <a:off x="7516368" y="3794760"/>
            <a:ext cx="914400" cy="685800"/>
          </a:xfrm>
          <a:prstGeom prst="rect">
            <a:avLst/>
          </a:prstGeom>
          <a:noFill/>
          <a:ln/>
        </p:spPr>
        <p:txBody>
          <a:bodyPr wrap="square" lIns="0" tIns="0" rIns="0" bIns="0" rtlCol="0" anchor="ctr"/>
          <a:lstStyle/>
          <a:p>
            <a:pPr indent="0" marL="0">
              <a:buNone/>
            </a:pPr>
            <a:r>
              <a:rPr lang="en-US" sz="1200" b="1" dirty="0">
                <a:solidFill>
                  <a:schemeClr val="tx1"/>
                </a:solidFill>
              </a:rPr>
              <a:t>Grafana</a:t>
            </a:r>
            <a:endParaRPr lang="en-US" sz="1200" dirty="0"/>
          </a:p>
          <a:p>
            <a:pPr indent="0" marL="0">
              <a:buNone/>
            </a:pPr>
            <a:r>
              <a:rPr lang="en-US" sz="1000" dirty="0">
                <a:solidFill>
                  <a:schemeClr val="tx2"/>
                </a:solidFill>
              </a:rPr>
              <a:t>dashboard</a:t>
            </a:r>
            <a:endParaRPr lang="en-US" sz="1200" dirty="0"/>
          </a:p>
        </p:txBody>
      </p:sp>
      <p:sp>
        <p:nvSpPr>
          <p:cNvPr id="39" name="arrow ingress order"/>
          <p:cNvSpPr/>
          <p:nvPr/>
        </p:nvSpPr>
        <p:spPr>
          <a:xfrm>
            <a:off x="2103120" y="3314700"/>
            <a:ext cx="594360" cy="914"/>
          </a:xfrm>
          <a:prstGeom prst="line">
            <a:avLst/>
          </a:prstGeom>
          <a:noFill/>
          <a:ln w="19050">
            <a:solidFill>
              <a:schemeClr val="accent4"/>
            </a:solidFill>
            <a:prstDash val="solid"/>
            <a:tailEnd type="triangle"/>
          </a:ln>
        </p:spPr>
      </p:sp>
      <p:sp>
        <p:nvSpPr>
          <p:cNvPr id="40" name="arrow order inventory"/>
          <p:cNvSpPr/>
          <p:nvPr/>
        </p:nvSpPr>
        <p:spPr>
          <a:xfrm>
            <a:off x="4389120" y="3314700"/>
            <a:ext cx="548640" cy="914"/>
          </a:xfrm>
          <a:prstGeom prst="line">
            <a:avLst/>
          </a:prstGeom>
          <a:noFill/>
          <a:ln w="19050">
            <a:solidFill>
              <a:schemeClr val="accent4"/>
            </a:solidFill>
            <a:prstDash val="solid"/>
            <a:tailEnd type="triangle"/>
          </a:ln>
        </p:spPr>
      </p:sp>
      <p:sp>
        <p:nvSpPr>
          <p:cNvPr id="41" name="arrow order postgres"/>
          <p:cNvSpPr/>
          <p:nvPr/>
        </p:nvSpPr>
        <p:spPr>
          <a:xfrm>
            <a:off x="4389120" y="3520440"/>
            <a:ext cx="548640" cy="617220"/>
          </a:xfrm>
          <a:prstGeom prst="line">
            <a:avLst/>
          </a:prstGeom>
          <a:noFill/>
          <a:ln w="19050">
            <a:solidFill>
              <a:schemeClr val="accent4"/>
            </a:solidFill>
            <a:prstDash val="solid"/>
            <a:tailEnd type="triangle"/>
          </a:ln>
        </p:spPr>
      </p:sp>
      <p:sp>
        <p:nvSpPr>
          <p:cNvPr id="42" name="arrow prometheus grafana"/>
          <p:cNvSpPr/>
          <p:nvPr/>
        </p:nvSpPr>
        <p:spPr>
          <a:xfrm>
            <a:off x="7772400" y="3657600"/>
            <a:ext cx="914" cy="137160"/>
          </a:xfrm>
          <a:prstGeom prst="line">
            <a:avLst/>
          </a:prstGeom>
          <a:noFill/>
          <a:ln w="19050">
            <a:solidFill>
              <a:schemeClr val="accent4"/>
            </a:solidFill>
            <a:prstDash val="solid"/>
            <a:tailEnd type="triangle"/>
          </a:ln>
        </p:spPr>
      </p:sp>
      <p:sp>
        <p:nvSpPr>
          <p:cNvPr id="43" name="arrow argo cluster"/>
          <p:cNvSpPr/>
          <p:nvPr/>
        </p:nvSpPr>
        <p:spPr>
          <a:xfrm>
            <a:off x="7863840" y="2057400"/>
            <a:ext cx="914" cy="731520"/>
          </a:xfrm>
          <a:prstGeom prst="line">
            <a:avLst/>
          </a:prstGeom>
          <a:noFill/>
          <a:ln w="19050">
            <a:solidFill>
              <a:schemeClr val="accent4"/>
            </a:solidFill>
            <a:prstDash val="solid"/>
            <a:tailEnd type="triangle"/>
          </a:ln>
        </p:spPr>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Application layer</a:t>
            </a:r>
            <a:endParaRPr lang="en-US" sz="3000" dirty="0"/>
          </a:p>
        </p:txBody>
      </p:sp>
      <p:sp>
        <p:nvSpPr>
          <p:cNvPr id="3" name="order service card"/>
          <p:cNvSpPr/>
          <p:nvPr/>
        </p:nvSpPr>
        <p:spPr>
          <a:xfrm>
            <a:off x="457200" y="1188720"/>
            <a:ext cx="3977640" cy="2331720"/>
          </a:xfrm>
          <a:prstGeom prst="roundRect">
            <a:avLst>
              <a:gd name="adj" fmla="val 3137"/>
            </a:avLst>
          </a:prstGeom>
          <a:solidFill>
            <a:schemeClr val="bg2"/>
          </a:solidFill>
          <a:ln/>
        </p:spPr>
      </p:sp>
      <p:sp>
        <p:nvSpPr>
          <p:cNvPr id="4" name="order service icon bg"/>
          <p:cNvSpPr/>
          <p:nvPr/>
        </p:nvSpPr>
        <p:spPr>
          <a:xfrm>
            <a:off x="640080" y="1371600"/>
            <a:ext cx="457200" cy="457200"/>
          </a:xfrm>
          <a:prstGeom prst="ellipse">
            <a:avLst/>
          </a:prstGeom>
          <a:solidFill>
            <a:schemeClr val="bg1"/>
          </a:solidFill>
          <a:ln/>
        </p:spPr>
      </p:sp>
      <p:pic>
        <p:nvPicPr>
          <p:cNvPr id="5" name="order service icon" descr="preencoded.png">    </p:cNvPr>
          <p:cNvPicPr>
            <a:picLocks noChangeAspect="1"/>
          </p:cNvPicPr>
          <p:nvPr/>
        </p:nvPicPr>
        <p:blipFill>
          <a:blip r:embed="rId1"/>
          <a:stretch>
            <a:fillRect/>
          </a:stretch>
        </p:blipFill>
        <p:spPr>
          <a:xfrm>
            <a:off x="740664" y="1472184"/>
            <a:ext cx="256032" cy="256032"/>
          </a:xfrm>
          <a:prstGeom prst="rect">
            <a:avLst/>
          </a:prstGeom>
        </p:spPr>
      </p:pic>
      <p:sp>
        <p:nvSpPr>
          <p:cNvPr id="6" name="order service title"/>
          <p:cNvSpPr txBox="1"/>
          <p:nvPr/>
        </p:nvSpPr>
        <p:spPr>
          <a:xfrm>
            <a:off x="1234440" y="1371600"/>
            <a:ext cx="3063240" cy="457200"/>
          </a:xfrm>
          <a:prstGeom prst="rect">
            <a:avLst/>
          </a:prstGeom>
          <a:noFill/>
          <a:ln/>
        </p:spPr>
        <p:txBody>
          <a:bodyPr wrap="square" lIns="0" tIns="0" rIns="0" bIns="0" rtlCol="0" anchor="ctr"/>
          <a:lstStyle/>
          <a:p>
            <a:pPr indent="0" marL="0">
              <a:buNone/>
            </a:pPr>
            <a:r>
              <a:rPr lang="en-US" sz="1500" b="1" dirty="0">
                <a:solidFill>
                  <a:schemeClr val="tx1"/>
                </a:solidFill>
              </a:rPr>
              <a:t>order-service  :8080</a:t>
            </a:r>
            <a:endParaRPr lang="en-US" sz="1500" dirty="0"/>
          </a:p>
        </p:txBody>
      </p:sp>
      <p:sp>
        <p:nvSpPr>
          <p:cNvPr id="7" name="order service body"/>
          <p:cNvSpPr txBox="1"/>
          <p:nvPr/>
        </p:nvSpPr>
        <p:spPr>
          <a:xfrm>
            <a:off x="640080" y="1920240"/>
            <a:ext cx="3611880" cy="146304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POST, GET /api/orders and /api/orders/{id}</a:t>
            </a:r>
            <a:endParaRPr lang="en-US" sz="1300" dirty="0"/>
          </a:p>
          <a:p>
            <a:pPr marL="342900" indent="-342900">
              <a:spcAft>
                <a:spcPts val="300"/>
              </a:spcAft>
              <a:buSzPct val="100000"/>
              <a:buChar char="•"/>
            </a:pPr>
            <a:r>
              <a:rPr lang="en-US" sz="1300" dirty="0">
                <a:solidFill>
                  <a:schemeClr val="tx2"/>
                </a:solidFill>
              </a:rPr>
              <a:t>Checks stock with inventory-service before saving</a:t>
            </a:r>
            <a:endParaRPr lang="en-US" sz="1300" dirty="0"/>
          </a:p>
          <a:p>
            <a:pPr marL="342900" indent="-342900">
              <a:spcAft>
                <a:spcPts val="300"/>
              </a:spcAft>
              <a:buSzPct val="100000"/>
              <a:buChar char="•"/>
            </a:pPr>
            <a:r>
              <a:rPr lang="en-US" sz="1300" dirty="0">
                <a:solidFill>
                  <a:schemeClr val="tx2"/>
                </a:solidFill>
              </a:rPr>
              <a:t>Spring Data JPA on PostgreSQL 17</a:t>
            </a:r>
            <a:endParaRPr lang="en-US" sz="1300" dirty="0"/>
          </a:p>
          <a:p>
            <a:pPr marL="342900" indent="-342900">
              <a:spcAft>
                <a:spcPts val="300"/>
              </a:spcAft>
              <a:buSzPct val="100000"/>
              <a:buChar char="•"/>
            </a:pPr>
            <a:r>
              <a:rPr lang="en-US" sz="1300" dirty="0">
                <a:solidFill>
                  <a:schemeClr val="tx2"/>
                </a:solidFill>
              </a:rPr>
              <a:t>Actuator health probes and metrics</a:t>
            </a:r>
            <a:endParaRPr lang="en-US" sz="1300" dirty="0"/>
          </a:p>
        </p:txBody>
      </p:sp>
      <p:sp>
        <p:nvSpPr>
          <p:cNvPr id="8" name="inventory service card"/>
          <p:cNvSpPr/>
          <p:nvPr/>
        </p:nvSpPr>
        <p:spPr>
          <a:xfrm>
            <a:off x="4709160" y="1188720"/>
            <a:ext cx="3977640" cy="2331720"/>
          </a:xfrm>
          <a:prstGeom prst="roundRect">
            <a:avLst>
              <a:gd name="adj" fmla="val 3137"/>
            </a:avLst>
          </a:prstGeom>
          <a:solidFill>
            <a:schemeClr val="bg2"/>
          </a:solidFill>
          <a:ln/>
        </p:spPr>
      </p:sp>
      <p:sp>
        <p:nvSpPr>
          <p:cNvPr id="9" name="inventory service icon bg"/>
          <p:cNvSpPr/>
          <p:nvPr/>
        </p:nvSpPr>
        <p:spPr>
          <a:xfrm>
            <a:off x="4892040" y="1371600"/>
            <a:ext cx="457200" cy="457200"/>
          </a:xfrm>
          <a:prstGeom prst="ellipse">
            <a:avLst/>
          </a:prstGeom>
          <a:solidFill>
            <a:schemeClr val="bg1"/>
          </a:solidFill>
          <a:ln/>
        </p:spPr>
      </p:sp>
      <p:pic>
        <p:nvPicPr>
          <p:cNvPr id="10" name="inventory service icon" descr="preencoded.png">    </p:cNvPr>
          <p:cNvPicPr>
            <a:picLocks noChangeAspect="1"/>
          </p:cNvPicPr>
          <p:nvPr/>
        </p:nvPicPr>
        <p:blipFill>
          <a:blip r:embed="rId2"/>
          <a:stretch>
            <a:fillRect/>
          </a:stretch>
        </p:blipFill>
        <p:spPr>
          <a:xfrm>
            <a:off x="4992624" y="1472184"/>
            <a:ext cx="256032" cy="256032"/>
          </a:xfrm>
          <a:prstGeom prst="rect">
            <a:avLst/>
          </a:prstGeom>
        </p:spPr>
      </p:pic>
      <p:sp>
        <p:nvSpPr>
          <p:cNvPr id="11" name="inventory service title"/>
          <p:cNvSpPr txBox="1"/>
          <p:nvPr/>
        </p:nvSpPr>
        <p:spPr>
          <a:xfrm>
            <a:off x="5486400" y="1371600"/>
            <a:ext cx="3063240" cy="457200"/>
          </a:xfrm>
          <a:prstGeom prst="rect">
            <a:avLst/>
          </a:prstGeom>
          <a:noFill/>
          <a:ln/>
        </p:spPr>
        <p:txBody>
          <a:bodyPr wrap="square" lIns="0" tIns="0" rIns="0" bIns="0" rtlCol="0" anchor="ctr"/>
          <a:lstStyle/>
          <a:p>
            <a:pPr indent="0" marL="0">
              <a:buNone/>
            </a:pPr>
            <a:r>
              <a:rPr lang="en-US" sz="1500" b="1" dirty="0">
                <a:solidFill>
                  <a:schemeClr val="tx1"/>
                </a:solidFill>
              </a:rPr>
              <a:t>inventory-service  :8081</a:t>
            </a:r>
            <a:endParaRPr lang="en-US" sz="1500" dirty="0"/>
          </a:p>
        </p:txBody>
      </p:sp>
      <p:sp>
        <p:nvSpPr>
          <p:cNvPr id="12" name="inventory service body"/>
          <p:cNvSpPr txBox="1"/>
          <p:nvPr/>
        </p:nvSpPr>
        <p:spPr>
          <a:xfrm>
            <a:off x="4892040" y="1920240"/>
            <a:ext cx="3611880" cy="146304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GET /api/inventory/{productCode}</a:t>
            </a:r>
            <a:endParaRPr lang="en-US" sz="1300" dirty="0"/>
          </a:p>
          <a:p>
            <a:pPr marL="342900" indent="-342900">
              <a:spcAft>
                <a:spcPts val="300"/>
              </a:spcAft>
              <a:buSzPct val="100000"/>
              <a:buChar char="•"/>
            </a:pPr>
            <a:r>
              <a:rPr lang="en-US" sz="1300" dirty="0">
                <a:solidFill>
                  <a:schemeClr val="tx2"/>
                </a:solidFill>
              </a:rPr>
              <a:t>In-memory stock catalogue</a:t>
            </a:r>
            <a:endParaRPr lang="en-US" sz="1300" dirty="0"/>
          </a:p>
          <a:p>
            <a:pPr marL="342900" indent="-342900">
              <a:spcAft>
                <a:spcPts val="300"/>
              </a:spcAft>
              <a:buSzPct val="100000"/>
              <a:buChar char="•"/>
            </a:pPr>
            <a:r>
              <a:rPr lang="en-US" sz="1300" dirty="0">
                <a:solidFill>
                  <a:schemeClr val="tx2"/>
                </a:solidFill>
              </a:rPr>
              <a:t>Same health and metrics endpoints</a:t>
            </a:r>
            <a:endParaRPr lang="en-US" sz="1300" dirty="0"/>
          </a:p>
          <a:p>
            <a:pPr marL="342900" indent="-342900">
              <a:spcAft>
                <a:spcPts val="300"/>
              </a:spcAft>
              <a:buSzPct val="100000"/>
              <a:buChar char="•"/>
            </a:pPr>
            <a:r>
              <a:rPr lang="en-US" sz="1300" dirty="0">
                <a:solidFill>
                  <a:schemeClr val="tx2"/>
                </a:solidFill>
              </a:rPr>
              <a:t>Reached over cluster DNS</a:t>
            </a:r>
            <a:endParaRPr lang="en-US" sz="1300" dirty="0"/>
          </a:p>
        </p:txBody>
      </p:sp>
      <p:pic>
        <p:nvPicPr>
          <p:cNvPr id="13" name="docker icon" descr="preencoded.png">    </p:cNvPr>
          <p:cNvPicPr>
            <a:picLocks noChangeAspect="1"/>
          </p:cNvPicPr>
          <p:nvPr/>
        </p:nvPicPr>
        <p:blipFill>
          <a:blip r:embed="rId3"/>
          <a:stretch>
            <a:fillRect/>
          </a:stretch>
        </p:blipFill>
        <p:spPr>
          <a:xfrm>
            <a:off x="457200" y="3840480"/>
            <a:ext cx="384048" cy="384048"/>
          </a:xfrm>
          <a:prstGeom prst="rect">
            <a:avLst/>
          </a:prstGeom>
        </p:spPr>
      </p:pic>
      <p:sp>
        <p:nvSpPr>
          <p:cNvPr id="14" name="docker note"/>
          <p:cNvSpPr txBox="1"/>
          <p:nvPr/>
        </p:nvSpPr>
        <p:spPr>
          <a:xfrm>
            <a:off x="1005840" y="3749040"/>
            <a:ext cx="7680960" cy="548640"/>
          </a:xfrm>
          <a:prstGeom prst="rect">
            <a:avLst/>
          </a:prstGeom>
          <a:noFill/>
          <a:ln/>
        </p:spPr>
        <p:txBody>
          <a:bodyPr wrap="square" lIns="0" tIns="0" rIns="0" bIns="0" rtlCol="0" anchor="ctr"/>
          <a:lstStyle/>
          <a:p>
            <a:pPr indent="0" marL="0">
              <a:buNone/>
            </a:pPr>
            <a:r>
              <a:rPr lang="en-US" sz="1400" b="1" dirty="0">
                <a:solidFill>
                  <a:schemeClr val="tx1"/>
                </a:solidFill>
              </a:rPr>
              <a:t>Multi-stage Docker builds: </a:t>
            </a:r>
            <a:pPr indent="0" marL="0">
              <a:buNone/>
            </a:pPr>
            <a:r>
              <a:rPr lang="en-US" sz="1400" dirty="0">
                <a:solidFill>
                  <a:schemeClr val="tx2"/>
                </a:solidFill>
              </a:rPr>
              <a:t>JDK stage compiles, JRE stage ships only the jar. Local dev runs on Docker Compose.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CI/CD pipeline on GitHub Actions</a:t>
            </a:r>
            <a:endParaRPr lang="en-US" sz="3000" dirty="0"/>
          </a:p>
        </p:txBody>
      </p:sp>
      <p:sp>
        <p:nvSpPr>
          <p:cNvPr id="3" name="check 1 box"/>
          <p:cNvSpPr/>
          <p:nvPr/>
        </p:nvSpPr>
        <p:spPr>
          <a:xfrm>
            <a:off x="457200" y="1188720"/>
            <a:ext cx="2834640" cy="502920"/>
          </a:xfrm>
          <a:prstGeom prst="roundRect">
            <a:avLst>
              <a:gd name="adj" fmla="val 14545"/>
            </a:avLst>
          </a:prstGeom>
          <a:solidFill>
            <a:schemeClr val="bg2"/>
          </a:solidFill>
          <a:ln/>
        </p:spPr>
      </p:sp>
      <p:sp>
        <p:nvSpPr>
          <p:cNvPr id="4" name="check 1 badge"/>
          <p:cNvSpPr/>
          <p:nvPr/>
        </p:nvSpPr>
        <p:spPr>
          <a:xfrm>
            <a:off x="566928" y="1289304"/>
            <a:ext cx="301752" cy="301752"/>
          </a:xfrm>
          <a:prstGeom prst="ellipse">
            <a:avLst/>
          </a:prstGeom>
          <a:solidFill>
            <a:schemeClr val="accent1"/>
          </a:solidFill>
          <a:ln/>
        </p:spPr>
      </p:sp>
      <p:sp>
        <p:nvSpPr>
          <p:cNvPr id="5" name="check 1 num"/>
          <p:cNvSpPr txBox="1"/>
          <p:nvPr/>
        </p:nvSpPr>
        <p:spPr>
          <a:xfrm>
            <a:off x="566928" y="1289304"/>
            <a:ext cx="301752" cy="301752"/>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6" name="check 1 label"/>
          <p:cNvSpPr txBox="1"/>
          <p:nvPr/>
        </p:nvSpPr>
        <p:spPr>
          <a:xfrm>
            <a:off x="987552" y="1188720"/>
            <a:ext cx="2240280" cy="502920"/>
          </a:xfrm>
          <a:prstGeom prst="rect">
            <a:avLst/>
          </a:prstGeom>
          <a:noFill/>
          <a:ln/>
        </p:spPr>
        <p:txBody>
          <a:bodyPr wrap="square" lIns="0" tIns="0" rIns="0" bIns="0" rtlCol="0" anchor="ctr"/>
          <a:lstStyle/>
          <a:p>
            <a:pPr indent="0" marL="0">
              <a:buNone/>
            </a:pPr>
            <a:r>
              <a:rPr lang="en-US" sz="1300" dirty="0">
                <a:solidFill>
                  <a:schemeClr val="tx1"/>
                </a:solidFill>
              </a:rPr>
              <a:t>Build &amp; Test (Postgres service)</a:t>
            </a:r>
            <a:endParaRPr lang="en-US" sz="1300" dirty="0"/>
          </a:p>
        </p:txBody>
      </p:sp>
      <p:sp>
        <p:nvSpPr>
          <p:cNvPr id="7" name="check 2 box"/>
          <p:cNvSpPr/>
          <p:nvPr/>
        </p:nvSpPr>
        <p:spPr>
          <a:xfrm>
            <a:off x="457200" y="1810512"/>
            <a:ext cx="2834640" cy="502920"/>
          </a:xfrm>
          <a:prstGeom prst="roundRect">
            <a:avLst>
              <a:gd name="adj" fmla="val 14545"/>
            </a:avLst>
          </a:prstGeom>
          <a:solidFill>
            <a:schemeClr val="bg2"/>
          </a:solidFill>
          <a:ln/>
        </p:spPr>
      </p:sp>
      <p:sp>
        <p:nvSpPr>
          <p:cNvPr id="8" name="check 2 badge"/>
          <p:cNvSpPr/>
          <p:nvPr/>
        </p:nvSpPr>
        <p:spPr>
          <a:xfrm>
            <a:off x="566928" y="1911096"/>
            <a:ext cx="301752" cy="301752"/>
          </a:xfrm>
          <a:prstGeom prst="ellipse">
            <a:avLst/>
          </a:prstGeom>
          <a:solidFill>
            <a:schemeClr val="accent1"/>
          </a:solidFill>
          <a:ln/>
        </p:spPr>
      </p:sp>
      <p:sp>
        <p:nvSpPr>
          <p:cNvPr id="9" name="check 2 num"/>
          <p:cNvSpPr txBox="1"/>
          <p:nvPr/>
        </p:nvSpPr>
        <p:spPr>
          <a:xfrm>
            <a:off x="566928" y="1911096"/>
            <a:ext cx="301752" cy="301752"/>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0" name="check 2 label"/>
          <p:cNvSpPr txBox="1"/>
          <p:nvPr/>
        </p:nvSpPr>
        <p:spPr>
          <a:xfrm>
            <a:off x="987552" y="1810512"/>
            <a:ext cx="2240280" cy="502920"/>
          </a:xfrm>
          <a:prstGeom prst="rect">
            <a:avLst/>
          </a:prstGeom>
          <a:noFill/>
          <a:ln/>
        </p:spPr>
        <p:txBody>
          <a:bodyPr wrap="square" lIns="0" tIns="0" rIns="0" bIns="0" rtlCol="0" anchor="ctr"/>
          <a:lstStyle/>
          <a:p>
            <a:pPr indent="0" marL="0">
              <a:buNone/>
            </a:pPr>
            <a:r>
              <a:rPr lang="en-US" sz="1300" dirty="0">
                <a:solidFill>
                  <a:schemeClr val="tx1"/>
                </a:solidFill>
              </a:rPr>
              <a:t>Gitleaks secret scan</a:t>
            </a:r>
            <a:endParaRPr lang="en-US" sz="1300" dirty="0"/>
          </a:p>
        </p:txBody>
      </p:sp>
      <p:sp>
        <p:nvSpPr>
          <p:cNvPr id="11" name="check 3 box"/>
          <p:cNvSpPr/>
          <p:nvPr/>
        </p:nvSpPr>
        <p:spPr>
          <a:xfrm>
            <a:off x="457200" y="2432304"/>
            <a:ext cx="2834640" cy="502920"/>
          </a:xfrm>
          <a:prstGeom prst="roundRect">
            <a:avLst>
              <a:gd name="adj" fmla="val 14545"/>
            </a:avLst>
          </a:prstGeom>
          <a:solidFill>
            <a:schemeClr val="bg2"/>
          </a:solidFill>
          <a:ln/>
        </p:spPr>
      </p:sp>
      <p:sp>
        <p:nvSpPr>
          <p:cNvPr id="12" name="check 3 badge"/>
          <p:cNvSpPr/>
          <p:nvPr/>
        </p:nvSpPr>
        <p:spPr>
          <a:xfrm>
            <a:off x="566928" y="2532888"/>
            <a:ext cx="301752" cy="301752"/>
          </a:xfrm>
          <a:prstGeom prst="ellipse">
            <a:avLst/>
          </a:prstGeom>
          <a:solidFill>
            <a:schemeClr val="accent1"/>
          </a:solidFill>
          <a:ln/>
        </p:spPr>
      </p:sp>
      <p:sp>
        <p:nvSpPr>
          <p:cNvPr id="13" name="check 3 num"/>
          <p:cNvSpPr txBox="1"/>
          <p:nvPr/>
        </p:nvSpPr>
        <p:spPr>
          <a:xfrm>
            <a:off x="566928" y="2532888"/>
            <a:ext cx="301752" cy="301752"/>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4" name="check 3 label"/>
          <p:cNvSpPr txBox="1"/>
          <p:nvPr/>
        </p:nvSpPr>
        <p:spPr>
          <a:xfrm>
            <a:off x="987552" y="2432304"/>
            <a:ext cx="2240280" cy="502920"/>
          </a:xfrm>
          <a:prstGeom prst="rect">
            <a:avLst/>
          </a:prstGeom>
          <a:noFill/>
          <a:ln/>
        </p:spPr>
        <p:txBody>
          <a:bodyPr wrap="square" lIns="0" tIns="0" rIns="0" bIns="0" rtlCol="0" anchor="ctr"/>
          <a:lstStyle/>
          <a:p>
            <a:pPr indent="0" marL="0">
              <a:buNone/>
            </a:pPr>
            <a:r>
              <a:rPr lang="en-US" sz="1300" dirty="0">
                <a:solidFill>
                  <a:schemeClr val="tx1"/>
                </a:solidFill>
              </a:rPr>
              <a:t>Trivy filesystem scan</a:t>
            </a:r>
            <a:endParaRPr lang="en-US" sz="1300" dirty="0"/>
          </a:p>
        </p:txBody>
      </p:sp>
      <p:sp>
        <p:nvSpPr>
          <p:cNvPr id="15" name="check 4 box"/>
          <p:cNvSpPr/>
          <p:nvPr/>
        </p:nvSpPr>
        <p:spPr>
          <a:xfrm>
            <a:off x="457200" y="3054096"/>
            <a:ext cx="2834640" cy="502920"/>
          </a:xfrm>
          <a:prstGeom prst="roundRect">
            <a:avLst>
              <a:gd name="adj" fmla="val 14545"/>
            </a:avLst>
          </a:prstGeom>
          <a:solidFill>
            <a:schemeClr val="bg2"/>
          </a:solidFill>
          <a:ln/>
        </p:spPr>
      </p:sp>
      <p:sp>
        <p:nvSpPr>
          <p:cNvPr id="16" name="check 4 badge"/>
          <p:cNvSpPr/>
          <p:nvPr/>
        </p:nvSpPr>
        <p:spPr>
          <a:xfrm>
            <a:off x="566928" y="3154680"/>
            <a:ext cx="301752" cy="301752"/>
          </a:xfrm>
          <a:prstGeom prst="ellipse">
            <a:avLst/>
          </a:prstGeom>
          <a:solidFill>
            <a:schemeClr val="accent1"/>
          </a:solidFill>
          <a:ln/>
        </p:spPr>
      </p:sp>
      <p:sp>
        <p:nvSpPr>
          <p:cNvPr id="17" name="check 4 num"/>
          <p:cNvSpPr txBox="1"/>
          <p:nvPr/>
        </p:nvSpPr>
        <p:spPr>
          <a:xfrm>
            <a:off x="566928" y="3154680"/>
            <a:ext cx="301752" cy="301752"/>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18" name="check 4 label"/>
          <p:cNvSpPr txBox="1"/>
          <p:nvPr/>
        </p:nvSpPr>
        <p:spPr>
          <a:xfrm>
            <a:off x="987552" y="3054096"/>
            <a:ext cx="2240280" cy="502920"/>
          </a:xfrm>
          <a:prstGeom prst="rect">
            <a:avLst/>
          </a:prstGeom>
          <a:noFill/>
          <a:ln/>
        </p:spPr>
        <p:txBody>
          <a:bodyPr wrap="square" lIns="0" tIns="0" rIns="0" bIns="0" rtlCol="0" anchor="ctr"/>
          <a:lstStyle/>
          <a:p>
            <a:pPr indent="0" marL="0">
              <a:buNone/>
            </a:pPr>
            <a:r>
              <a:rPr lang="en-US" sz="1300" dirty="0">
                <a:solidFill>
                  <a:schemeClr val="tx1"/>
                </a:solidFill>
              </a:rPr>
              <a:t>Helm lint + template</a:t>
            </a:r>
            <a:endParaRPr lang="en-US" sz="1300" dirty="0"/>
          </a:p>
        </p:txBody>
      </p:sp>
      <p:sp>
        <p:nvSpPr>
          <p:cNvPr id="19" name="check 5 box"/>
          <p:cNvSpPr/>
          <p:nvPr/>
        </p:nvSpPr>
        <p:spPr>
          <a:xfrm>
            <a:off x="457200" y="3675888"/>
            <a:ext cx="2834640" cy="502920"/>
          </a:xfrm>
          <a:prstGeom prst="roundRect">
            <a:avLst>
              <a:gd name="adj" fmla="val 14545"/>
            </a:avLst>
          </a:prstGeom>
          <a:solidFill>
            <a:schemeClr val="bg2"/>
          </a:solidFill>
          <a:ln/>
        </p:spPr>
      </p:sp>
      <p:sp>
        <p:nvSpPr>
          <p:cNvPr id="20" name="check 5 badge"/>
          <p:cNvSpPr/>
          <p:nvPr/>
        </p:nvSpPr>
        <p:spPr>
          <a:xfrm>
            <a:off x="566928" y="3776472"/>
            <a:ext cx="301752" cy="301752"/>
          </a:xfrm>
          <a:prstGeom prst="ellipse">
            <a:avLst/>
          </a:prstGeom>
          <a:solidFill>
            <a:schemeClr val="accent1"/>
          </a:solidFill>
          <a:ln/>
        </p:spPr>
      </p:sp>
      <p:sp>
        <p:nvSpPr>
          <p:cNvPr id="21" name="check 5 num"/>
          <p:cNvSpPr txBox="1"/>
          <p:nvPr/>
        </p:nvSpPr>
        <p:spPr>
          <a:xfrm>
            <a:off x="566928" y="3776472"/>
            <a:ext cx="301752" cy="301752"/>
          </a:xfrm>
          <a:prstGeom prst="rect">
            <a:avLst/>
          </a:prstGeom>
          <a:no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22" name="check 5 label"/>
          <p:cNvSpPr txBox="1"/>
          <p:nvPr/>
        </p:nvSpPr>
        <p:spPr>
          <a:xfrm>
            <a:off x="987552" y="3675888"/>
            <a:ext cx="2240280" cy="502920"/>
          </a:xfrm>
          <a:prstGeom prst="rect">
            <a:avLst/>
          </a:prstGeom>
          <a:noFill/>
          <a:ln/>
        </p:spPr>
        <p:txBody>
          <a:bodyPr wrap="square" lIns="0" tIns="0" rIns="0" bIns="0" rtlCol="0" anchor="ctr"/>
          <a:lstStyle/>
          <a:p>
            <a:pPr indent="0" marL="0">
              <a:buNone/>
            </a:pPr>
            <a:r>
              <a:rPr lang="en-US" sz="1300" dirty="0">
                <a:solidFill>
                  <a:schemeClr val="tx1"/>
                </a:solidFill>
              </a:rPr>
              <a:t>Terraform fmt + validate</a:t>
            </a:r>
            <a:endParaRPr lang="en-US" sz="1300" dirty="0"/>
          </a:p>
        </p:txBody>
      </p:sp>
      <p:sp>
        <p:nvSpPr>
          <p:cNvPr id="23" name="image job card"/>
          <p:cNvSpPr/>
          <p:nvPr/>
        </p:nvSpPr>
        <p:spPr>
          <a:xfrm>
            <a:off x="3840480" y="1783080"/>
            <a:ext cx="2240280" cy="1783080"/>
          </a:xfrm>
          <a:prstGeom prst="roundRect">
            <a:avLst>
              <a:gd name="adj" fmla="val 4103"/>
            </a:avLst>
          </a:prstGeom>
          <a:solidFill>
            <a:schemeClr val="bg2"/>
          </a:solidFill>
          <a:ln/>
        </p:spPr>
      </p:sp>
      <p:sp>
        <p:nvSpPr>
          <p:cNvPr id="24" name="image job icon bg"/>
          <p:cNvSpPr/>
          <p:nvPr/>
        </p:nvSpPr>
        <p:spPr>
          <a:xfrm>
            <a:off x="4023360" y="1965960"/>
            <a:ext cx="457200" cy="457200"/>
          </a:xfrm>
          <a:prstGeom prst="ellipse">
            <a:avLst/>
          </a:prstGeom>
          <a:solidFill>
            <a:schemeClr val="bg1"/>
          </a:solidFill>
          <a:ln/>
        </p:spPr>
      </p:sp>
      <p:pic>
        <p:nvPicPr>
          <p:cNvPr id="25" name="image job icon" descr="preencoded.png">    </p:cNvPr>
          <p:cNvPicPr>
            <a:picLocks noChangeAspect="1"/>
          </p:cNvPicPr>
          <p:nvPr/>
        </p:nvPicPr>
        <p:blipFill>
          <a:blip r:embed="rId1"/>
          <a:stretch>
            <a:fillRect/>
          </a:stretch>
        </p:blipFill>
        <p:spPr>
          <a:xfrm>
            <a:off x="4123944" y="2066544"/>
            <a:ext cx="256032" cy="256032"/>
          </a:xfrm>
          <a:prstGeom prst="rect">
            <a:avLst/>
          </a:prstGeom>
        </p:spPr>
      </p:pic>
      <p:sp>
        <p:nvSpPr>
          <p:cNvPr id="26" name="image job title"/>
          <p:cNvSpPr txBox="1"/>
          <p:nvPr/>
        </p:nvSpPr>
        <p:spPr>
          <a:xfrm>
            <a:off x="4617720" y="1965960"/>
            <a:ext cx="1325880" cy="457200"/>
          </a:xfrm>
          <a:prstGeom prst="rect">
            <a:avLst/>
          </a:prstGeom>
          <a:noFill/>
          <a:ln/>
        </p:spPr>
        <p:txBody>
          <a:bodyPr wrap="square" lIns="0" tIns="0" rIns="0" bIns="0" rtlCol="0" anchor="ctr"/>
          <a:lstStyle/>
          <a:p>
            <a:pPr indent="0" marL="0">
              <a:buNone/>
            </a:pPr>
            <a:r>
              <a:rPr lang="en-US" sz="1500" b="1" dirty="0">
                <a:solidFill>
                  <a:schemeClr val="tx1"/>
                </a:solidFill>
              </a:rPr>
              <a:t>6  Build &amp; scan image</a:t>
            </a:r>
            <a:endParaRPr lang="en-US" sz="1500" dirty="0"/>
          </a:p>
        </p:txBody>
      </p:sp>
      <p:sp>
        <p:nvSpPr>
          <p:cNvPr id="27" name="image job body"/>
          <p:cNvSpPr txBox="1"/>
          <p:nvPr/>
        </p:nvSpPr>
        <p:spPr>
          <a:xfrm>
            <a:off x="4023360" y="2514600"/>
            <a:ext cx="1874520" cy="91440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Matrix over both services</a:t>
            </a:r>
            <a:endParaRPr lang="en-US" sz="1200" dirty="0"/>
          </a:p>
          <a:p>
            <a:pPr marL="342900" indent="-342900">
              <a:spcAft>
                <a:spcPts val="300"/>
              </a:spcAft>
              <a:buSzPct val="100000"/>
              <a:buChar char="•"/>
            </a:pPr>
            <a:r>
              <a:rPr lang="en-US" sz="1200" dirty="0">
                <a:solidFill>
                  <a:schemeClr val="tx2"/>
                </a:solidFill>
              </a:rPr>
              <a:t>Trivy image scan</a:t>
            </a:r>
            <a:endParaRPr lang="en-US" sz="1200" dirty="0"/>
          </a:p>
          <a:p>
            <a:pPr marL="342900" indent="-342900">
              <a:spcAft>
                <a:spcPts val="300"/>
              </a:spcAft>
              <a:buSzPct val="100000"/>
              <a:buChar char="•"/>
            </a:pPr>
            <a:r>
              <a:rPr lang="en-US" sz="1200" dirty="0">
                <a:solidFill>
                  <a:schemeClr val="tx2"/>
                </a:solidFill>
              </a:rPr>
              <a:t>Push ghcr.io/…:&lt;sha&gt;</a:t>
            </a:r>
            <a:endParaRPr lang="en-US" sz="1200" dirty="0"/>
          </a:p>
        </p:txBody>
      </p:sp>
      <p:sp>
        <p:nvSpPr>
          <p:cNvPr id="28" name="deploy job card"/>
          <p:cNvSpPr/>
          <p:nvPr/>
        </p:nvSpPr>
        <p:spPr>
          <a:xfrm>
            <a:off x="6492240" y="1783080"/>
            <a:ext cx="2194560" cy="1783080"/>
          </a:xfrm>
          <a:prstGeom prst="roundRect">
            <a:avLst>
              <a:gd name="adj" fmla="val 4103"/>
            </a:avLst>
          </a:prstGeom>
          <a:solidFill>
            <a:schemeClr val="accent6"/>
          </a:solidFill>
          <a:ln/>
        </p:spPr>
      </p:sp>
      <p:sp>
        <p:nvSpPr>
          <p:cNvPr id="29" name="deploy job icon bg"/>
          <p:cNvSpPr/>
          <p:nvPr/>
        </p:nvSpPr>
        <p:spPr>
          <a:xfrm>
            <a:off x="6675120" y="1965960"/>
            <a:ext cx="457200" cy="457200"/>
          </a:xfrm>
          <a:prstGeom prst="ellipse">
            <a:avLst/>
          </a:prstGeom>
          <a:solidFill>
            <a:schemeClr val="bg1"/>
          </a:solidFill>
          <a:ln/>
        </p:spPr>
      </p:sp>
      <p:pic>
        <p:nvPicPr>
          <p:cNvPr id="30" name="deploy job icon" descr="preencoded.png">    </p:cNvPr>
          <p:cNvPicPr>
            <a:picLocks noChangeAspect="1"/>
          </p:cNvPicPr>
          <p:nvPr/>
        </p:nvPicPr>
        <p:blipFill>
          <a:blip r:embed="rId2"/>
          <a:stretch>
            <a:fillRect/>
          </a:stretch>
        </p:blipFill>
        <p:spPr>
          <a:xfrm>
            <a:off x="6775704" y="2066544"/>
            <a:ext cx="256032" cy="256032"/>
          </a:xfrm>
          <a:prstGeom prst="rect">
            <a:avLst/>
          </a:prstGeom>
        </p:spPr>
      </p:pic>
      <p:sp>
        <p:nvSpPr>
          <p:cNvPr id="31" name="deploy job title"/>
          <p:cNvSpPr txBox="1"/>
          <p:nvPr/>
        </p:nvSpPr>
        <p:spPr>
          <a:xfrm>
            <a:off x="7269480" y="1965960"/>
            <a:ext cx="1280160" cy="457200"/>
          </a:xfrm>
          <a:prstGeom prst="rect">
            <a:avLst/>
          </a:prstGeom>
          <a:noFill/>
          <a:ln/>
        </p:spPr>
        <p:txBody>
          <a:bodyPr wrap="square" lIns="0" tIns="0" rIns="0" bIns="0" rtlCol="0" anchor="ctr"/>
          <a:lstStyle/>
          <a:p>
            <a:pPr indent="0" marL="0">
              <a:buNone/>
            </a:pPr>
            <a:r>
              <a:rPr lang="en-US" sz="1500" b="1" dirty="0">
                <a:solidFill>
                  <a:schemeClr val="tx1"/>
                </a:solidFill>
              </a:rPr>
              <a:t>7  Update image tags</a:t>
            </a:r>
            <a:endParaRPr lang="en-US" sz="1500" dirty="0"/>
          </a:p>
        </p:txBody>
      </p:sp>
      <p:sp>
        <p:nvSpPr>
          <p:cNvPr id="32" name="deploy job body"/>
          <p:cNvSpPr txBox="1"/>
          <p:nvPr/>
        </p:nvSpPr>
        <p:spPr>
          <a:xfrm>
            <a:off x="6675120" y="2514600"/>
            <a:ext cx="1828800" cy="91440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Rewrites tags in kubernetes/ and Helm values</a:t>
            </a:r>
            <a:endParaRPr lang="en-US" sz="1200" dirty="0"/>
          </a:p>
          <a:p>
            <a:pPr marL="342900" indent="-342900">
              <a:spcAft>
                <a:spcPts val="300"/>
              </a:spcAft>
              <a:buSzPct val="100000"/>
              <a:buChar char="•"/>
            </a:pPr>
            <a:r>
              <a:rPr lang="en-US" sz="1200" dirty="0">
                <a:solidFill>
                  <a:schemeClr val="tx2"/>
                </a:solidFill>
              </a:rPr>
              <a:t>Commits to main</a:t>
            </a:r>
            <a:endParaRPr lang="en-US" sz="1200" dirty="0"/>
          </a:p>
        </p:txBody>
      </p:sp>
      <p:sp>
        <p:nvSpPr>
          <p:cNvPr id="33" name="arrow checks image"/>
          <p:cNvSpPr/>
          <p:nvPr/>
        </p:nvSpPr>
        <p:spPr>
          <a:xfrm>
            <a:off x="3291840" y="2670048"/>
            <a:ext cx="548640" cy="914"/>
          </a:xfrm>
          <a:prstGeom prst="line">
            <a:avLst/>
          </a:prstGeom>
          <a:noFill/>
          <a:ln w="19050">
            <a:solidFill>
              <a:schemeClr val="accent4"/>
            </a:solidFill>
            <a:prstDash val="solid"/>
            <a:tailEnd type="triangle"/>
          </a:ln>
        </p:spPr>
      </p:sp>
      <p:sp>
        <p:nvSpPr>
          <p:cNvPr id="34" name="arrow image deploy"/>
          <p:cNvSpPr/>
          <p:nvPr/>
        </p:nvSpPr>
        <p:spPr>
          <a:xfrm>
            <a:off x="6080760" y="2670048"/>
            <a:ext cx="411480" cy="914"/>
          </a:xfrm>
          <a:prstGeom prst="line">
            <a:avLst/>
          </a:prstGeom>
          <a:noFill/>
          <a:ln w="19050">
            <a:solidFill>
              <a:schemeClr val="accent4"/>
            </a:solidFill>
            <a:prstDash val="solid"/>
            <a:tailEnd type="triangle"/>
          </a:ln>
        </p:spPr>
      </p:sp>
      <p:sp>
        <p:nvSpPr>
          <p:cNvPr id="35" name="ci caption"/>
          <p:cNvSpPr txBox="1"/>
          <p:nvPr/>
        </p:nvSpPr>
        <p:spPr>
          <a:xfrm>
            <a:off x="3840480" y="3840480"/>
            <a:ext cx="4846320" cy="548640"/>
          </a:xfrm>
          <a:prstGeom prst="rect">
            <a:avLst/>
          </a:prstGeom>
          <a:noFill/>
          <a:ln/>
        </p:spPr>
        <p:txBody>
          <a:bodyPr wrap="square" lIns="0" tIns="0" rIns="0" bIns="0" rtlCol="0" anchor="t"/>
          <a:lstStyle/>
          <a:p>
            <a:pPr indent="0" marL="0">
              <a:buNone/>
            </a:pPr>
            <a:r>
              <a:rPr lang="en-US" sz="1200" i="1" dirty="0">
                <a:solidFill>
                  <a:schemeClr val="tx2"/>
                </a:solidFill>
              </a:rPr>
              <a:t>Runs on every push and PR to main. Jobs 6 and 7 publish only from main, after all checks pass.</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Security built into the pipeline</a:t>
            </a:r>
            <a:endParaRPr lang="en-US" sz="3000" dirty="0"/>
          </a:p>
        </p:txBody>
      </p:sp>
      <p:sp>
        <p:nvSpPr>
          <p:cNvPr id="3" name="sec 1 card"/>
          <p:cNvSpPr/>
          <p:nvPr/>
        </p:nvSpPr>
        <p:spPr>
          <a:xfrm>
            <a:off x="457200" y="1188720"/>
            <a:ext cx="2606040" cy="1463040"/>
          </a:xfrm>
          <a:prstGeom prst="roundRect">
            <a:avLst>
              <a:gd name="adj" fmla="val 5000"/>
            </a:avLst>
          </a:prstGeom>
          <a:solidFill>
            <a:schemeClr val="bg2"/>
          </a:solidFill>
          <a:ln/>
        </p:spPr>
      </p:sp>
      <p:sp>
        <p:nvSpPr>
          <p:cNvPr id="4" name="sec 1 icon bg"/>
          <p:cNvSpPr/>
          <p:nvPr/>
        </p:nvSpPr>
        <p:spPr>
          <a:xfrm>
            <a:off x="640080" y="1371600"/>
            <a:ext cx="457200" cy="457200"/>
          </a:xfrm>
          <a:prstGeom prst="ellipse">
            <a:avLst/>
          </a:prstGeom>
          <a:solidFill>
            <a:schemeClr val="bg1"/>
          </a:solidFill>
          <a:ln/>
        </p:spPr>
      </p:sp>
      <p:pic>
        <p:nvPicPr>
          <p:cNvPr id="5" name="sec 1 icon" descr="preencoded.png">    </p:cNvPr>
          <p:cNvPicPr>
            <a:picLocks noChangeAspect="1"/>
          </p:cNvPicPr>
          <p:nvPr/>
        </p:nvPicPr>
        <p:blipFill>
          <a:blip r:embed="rId1"/>
          <a:stretch>
            <a:fillRect/>
          </a:stretch>
        </p:blipFill>
        <p:spPr>
          <a:xfrm>
            <a:off x="740664" y="1472184"/>
            <a:ext cx="256032" cy="256032"/>
          </a:xfrm>
          <a:prstGeom prst="rect">
            <a:avLst/>
          </a:prstGeom>
        </p:spPr>
      </p:pic>
      <p:sp>
        <p:nvSpPr>
          <p:cNvPr id="6" name="sec 1 title"/>
          <p:cNvSpPr txBox="1"/>
          <p:nvPr/>
        </p:nvSpPr>
        <p:spPr>
          <a:xfrm>
            <a:off x="1234440" y="1371600"/>
            <a:ext cx="1691640" cy="457200"/>
          </a:xfrm>
          <a:prstGeom prst="rect">
            <a:avLst/>
          </a:prstGeom>
          <a:noFill/>
          <a:ln/>
        </p:spPr>
        <p:txBody>
          <a:bodyPr wrap="square" lIns="0" tIns="0" rIns="0" bIns="0" rtlCol="0" anchor="ctr"/>
          <a:lstStyle/>
          <a:p>
            <a:pPr indent="0" marL="0">
              <a:buNone/>
            </a:pPr>
            <a:r>
              <a:rPr lang="en-US" sz="1400" b="1" dirty="0">
                <a:solidFill>
                  <a:schemeClr val="tx1"/>
                </a:solidFill>
              </a:rPr>
              <a:t>Secret scanning</a:t>
            </a:r>
            <a:endParaRPr lang="en-US" sz="1400" dirty="0"/>
          </a:p>
        </p:txBody>
      </p:sp>
      <p:sp>
        <p:nvSpPr>
          <p:cNvPr id="7" name="sec 1 body"/>
          <p:cNvSpPr txBox="1"/>
          <p:nvPr/>
        </p:nvSpPr>
        <p:spPr>
          <a:xfrm>
            <a:off x="640080" y="1920240"/>
            <a:ext cx="2240280" cy="594360"/>
          </a:xfrm>
          <a:prstGeom prst="rect">
            <a:avLst/>
          </a:prstGeom>
          <a:noFill/>
          <a:ln/>
        </p:spPr>
        <p:txBody>
          <a:bodyPr wrap="square" lIns="0" tIns="0" rIns="0" bIns="0" rtlCol="0" anchor="t"/>
          <a:lstStyle/>
          <a:p>
            <a:pPr indent="0" marL="0">
              <a:spcAft>
                <a:spcPts val="300"/>
              </a:spcAft>
              <a:buNone/>
            </a:pPr>
            <a:r>
              <a:rPr lang="en-US" sz="1200" dirty="0">
                <a:solidFill>
                  <a:schemeClr val="tx2"/>
                </a:solidFill>
              </a:rPr>
              <a:t>Gitleaks scans the full git history and blocks the pipeline on a finding</a:t>
            </a:r>
            <a:endParaRPr lang="en-US" sz="1200" dirty="0"/>
          </a:p>
        </p:txBody>
      </p:sp>
      <p:sp>
        <p:nvSpPr>
          <p:cNvPr id="8" name="sec 2 card"/>
          <p:cNvSpPr/>
          <p:nvPr/>
        </p:nvSpPr>
        <p:spPr>
          <a:xfrm>
            <a:off x="3246120" y="1188720"/>
            <a:ext cx="2606040" cy="1463040"/>
          </a:xfrm>
          <a:prstGeom prst="roundRect">
            <a:avLst>
              <a:gd name="adj" fmla="val 5000"/>
            </a:avLst>
          </a:prstGeom>
          <a:solidFill>
            <a:schemeClr val="bg2"/>
          </a:solidFill>
          <a:ln/>
        </p:spPr>
      </p:sp>
      <p:sp>
        <p:nvSpPr>
          <p:cNvPr id="9" name="sec 2 icon bg"/>
          <p:cNvSpPr/>
          <p:nvPr/>
        </p:nvSpPr>
        <p:spPr>
          <a:xfrm>
            <a:off x="3429000" y="1371600"/>
            <a:ext cx="457200" cy="457200"/>
          </a:xfrm>
          <a:prstGeom prst="ellipse">
            <a:avLst/>
          </a:prstGeom>
          <a:solidFill>
            <a:schemeClr val="bg1"/>
          </a:solidFill>
          <a:ln/>
        </p:spPr>
      </p:sp>
      <p:pic>
        <p:nvPicPr>
          <p:cNvPr id="10" name="sec 2 icon" descr="preencoded.png">    </p:cNvPr>
          <p:cNvPicPr>
            <a:picLocks noChangeAspect="1"/>
          </p:cNvPicPr>
          <p:nvPr/>
        </p:nvPicPr>
        <p:blipFill>
          <a:blip r:embed="rId2"/>
          <a:stretch>
            <a:fillRect/>
          </a:stretch>
        </p:blipFill>
        <p:spPr>
          <a:xfrm>
            <a:off x="3529584" y="1472184"/>
            <a:ext cx="256032" cy="256032"/>
          </a:xfrm>
          <a:prstGeom prst="rect">
            <a:avLst/>
          </a:prstGeom>
        </p:spPr>
      </p:pic>
      <p:sp>
        <p:nvSpPr>
          <p:cNvPr id="11" name="sec 2 title"/>
          <p:cNvSpPr txBox="1"/>
          <p:nvPr/>
        </p:nvSpPr>
        <p:spPr>
          <a:xfrm>
            <a:off x="4023360" y="1371600"/>
            <a:ext cx="1691640" cy="457200"/>
          </a:xfrm>
          <a:prstGeom prst="rect">
            <a:avLst/>
          </a:prstGeom>
          <a:noFill/>
          <a:ln/>
        </p:spPr>
        <p:txBody>
          <a:bodyPr wrap="square" lIns="0" tIns="0" rIns="0" bIns="0" rtlCol="0" anchor="ctr"/>
          <a:lstStyle/>
          <a:p>
            <a:pPr indent="0" marL="0">
              <a:buNone/>
            </a:pPr>
            <a:r>
              <a:rPr lang="en-US" sz="1400" b="1" dirty="0">
                <a:solidFill>
                  <a:schemeClr val="tx1"/>
                </a:solidFill>
              </a:rPr>
              <a:t>Dependency + IaC scan</a:t>
            </a:r>
            <a:endParaRPr lang="en-US" sz="1400" dirty="0"/>
          </a:p>
        </p:txBody>
      </p:sp>
      <p:sp>
        <p:nvSpPr>
          <p:cNvPr id="12" name="sec 2 body"/>
          <p:cNvSpPr txBox="1"/>
          <p:nvPr/>
        </p:nvSpPr>
        <p:spPr>
          <a:xfrm>
            <a:off x="3429000" y="1920240"/>
            <a:ext cx="2240280" cy="594360"/>
          </a:xfrm>
          <a:prstGeom prst="rect">
            <a:avLst/>
          </a:prstGeom>
          <a:noFill/>
          <a:ln/>
        </p:spPr>
        <p:txBody>
          <a:bodyPr wrap="square" lIns="0" tIns="0" rIns="0" bIns="0" rtlCol="0" anchor="t"/>
          <a:lstStyle/>
          <a:p>
            <a:pPr indent="0" marL="0">
              <a:spcAft>
                <a:spcPts val="300"/>
              </a:spcAft>
              <a:buNone/>
            </a:pPr>
            <a:r>
              <a:rPr lang="en-US" sz="1200" dirty="0">
                <a:solidFill>
                  <a:schemeClr val="tx2"/>
                </a:solidFill>
              </a:rPr>
              <a:t>Trivy checks Maven dependencies, K8s and Terraform misconfiguration</a:t>
            </a:r>
            <a:endParaRPr lang="en-US" sz="1200" dirty="0"/>
          </a:p>
        </p:txBody>
      </p:sp>
      <p:sp>
        <p:nvSpPr>
          <p:cNvPr id="13" name="sec 3 card"/>
          <p:cNvSpPr/>
          <p:nvPr/>
        </p:nvSpPr>
        <p:spPr>
          <a:xfrm>
            <a:off x="6035040" y="1188720"/>
            <a:ext cx="2606040" cy="1463040"/>
          </a:xfrm>
          <a:prstGeom prst="roundRect">
            <a:avLst>
              <a:gd name="adj" fmla="val 5000"/>
            </a:avLst>
          </a:prstGeom>
          <a:solidFill>
            <a:schemeClr val="bg2"/>
          </a:solidFill>
          <a:ln/>
        </p:spPr>
      </p:sp>
      <p:sp>
        <p:nvSpPr>
          <p:cNvPr id="14" name="sec 3 icon bg"/>
          <p:cNvSpPr/>
          <p:nvPr/>
        </p:nvSpPr>
        <p:spPr>
          <a:xfrm>
            <a:off x="6217920" y="1371600"/>
            <a:ext cx="457200" cy="457200"/>
          </a:xfrm>
          <a:prstGeom prst="ellipse">
            <a:avLst/>
          </a:prstGeom>
          <a:solidFill>
            <a:schemeClr val="bg1"/>
          </a:solidFill>
          <a:ln/>
        </p:spPr>
      </p:sp>
      <p:pic>
        <p:nvPicPr>
          <p:cNvPr id="15" name="sec 3 icon" descr="preencoded.png">    </p:cNvPr>
          <p:cNvPicPr>
            <a:picLocks noChangeAspect="1"/>
          </p:cNvPicPr>
          <p:nvPr/>
        </p:nvPicPr>
        <p:blipFill>
          <a:blip r:embed="rId3"/>
          <a:stretch>
            <a:fillRect/>
          </a:stretch>
        </p:blipFill>
        <p:spPr>
          <a:xfrm>
            <a:off x="6318504" y="1472184"/>
            <a:ext cx="256032" cy="256032"/>
          </a:xfrm>
          <a:prstGeom prst="rect">
            <a:avLst/>
          </a:prstGeom>
        </p:spPr>
      </p:pic>
      <p:sp>
        <p:nvSpPr>
          <p:cNvPr id="16" name="sec 3 title"/>
          <p:cNvSpPr txBox="1"/>
          <p:nvPr/>
        </p:nvSpPr>
        <p:spPr>
          <a:xfrm>
            <a:off x="6812280" y="1371600"/>
            <a:ext cx="1691640" cy="457200"/>
          </a:xfrm>
          <a:prstGeom prst="rect">
            <a:avLst/>
          </a:prstGeom>
          <a:noFill/>
          <a:ln/>
        </p:spPr>
        <p:txBody>
          <a:bodyPr wrap="square" lIns="0" tIns="0" rIns="0" bIns="0" rtlCol="0" anchor="ctr"/>
          <a:lstStyle/>
          <a:p>
            <a:pPr indent="0" marL="0">
              <a:buNone/>
            </a:pPr>
            <a:r>
              <a:rPr lang="en-US" sz="1400" b="1" dirty="0">
                <a:solidFill>
                  <a:schemeClr val="tx1"/>
                </a:solidFill>
              </a:rPr>
              <a:t>Image scanning</a:t>
            </a:r>
            <a:endParaRPr lang="en-US" sz="1400" dirty="0"/>
          </a:p>
        </p:txBody>
      </p:sp>
      <p:sp>
        <p:nvSpPr>
          <p:cNvPr id="17" name="sec 3 body"/>
          <p:cNvSpPr txBox="1"/>
          <p:nvPr/>
        </p:nvSpPr>
        <p:spPr>
          <a:xfrm>
            <a:off x="6217920" y="1920240"/>
            <a:ext cx="2240280" cy="594360"/>
          </a:xfrm>
          <a:prstGeom prst="rect">
            <a:avLst/>
          </a:prstGeom>
          <a:noFill/>
          <a:ln/>
        </p:spPr>
        <p:txBody>
          <a:bodyPr wrap="square" lIns="0" tIns="0" rIns="0" bIns="0" rtlCol="0" anchor="t"/>
          <a:lstStyle/>
          <a:p>
            <a:pPr indent="0" marL="0">
              <a:spcAft>
                <a:spcPts val="300"/>
              </a:spcAft>
              <a:buNone/>
            </a:pPr>
            <a:r>
              <a:rPr lang="en-US" sz="1200" dirty="0">
                <a:solidFill>
                  <a:schemeClr val="tx2"/>
                </a:solidFill>
              </a:rPr>
              <a:t>Trivy reports HIGH and CRITICAL CVEs that have a fix in each image</a:t>
            </a:r>
            <a:endParaRPr lang="en-US" sz="1200" dirty="0"/>
          </a:p>
        </p:txBody>
      </p:sp>
      <p:sp>
        <p:nvSpPr>
          <p:cNvPr id="18" name="sec 4 card"/>
          <p:cNvSpPr/>
          <p:nvPr/>
        </p:nvSpPr>
        <p:spPr>
          <a:xfrm>
            <a:off x="457200" y="2880360"/>
            <a:ext cx="2606040" cy="1463040"/>
          </a:xfrm>
          <a:prstGeom prst="roundRect">
            <a:avLst>
              <a:gd name="adj" fmla="val 5000"/>
            </a:avLst>
          </a:prstGeom>
          <a:solidFill>
            <a:schemeClr val="bg2"/>
          </a:solidFill>
          <a:ln/>
        </p:spPr>
      </p:sp>
      <p:sp>
        <p:nvSpPr>
          <p:cNvPr id="19" name="sec 4 icon bg"/>
          <p:cNvSpPr/>
          <p:nvPr/>
        </p:nvSpPr>
        <p:spPr>
          <a:xfrm>
            <a:off x="640080" y="3063240"/>
            <a:ext cx="457200" cy="457200"/>
          </a:xfrm>
          <a:prstGeom prst="ellipse">
            <a:avLst/>
          </a:prstGeom>
          <a:solidFill>
            <a:schemeClr val="bg1"/>
          </a:solidFill>
          <a:ln/>
        </p:spPr>
      </p:sp>
      <p:pic>
        <p:nvPicPr>
          <p:cNvPr id="20" name="sec 4 icon" descr="preencoded.png">    </p:cNvPr>
          <p:cNvPicPr>
            <a:picLocks noChangeAspect="1"/>
          </p:cNvPicPr>
          <p:nvPr/>
        </p:nvPicPr>
        <p:blipFill>
          <a:blip r:embed="rId4"/>
          <a:stretch>
            <a:fillRect/>
          </a:stretch>
        </p:blipFill>
        <p:spPr>
          <a:xfrm>
            <a:off x="740664" y="3163824"/>
            <a:ext cx="256032" cy="256032"/>
          </a:xfrm>
          <a:prstGeom prst="rect">
            <a:avLst/>
          </a:prstGeom>
        </p:spPr>
      </p:pic>
      <p:sp>
        <p:nvSpPr>
          <p:cNvPr id="21" name="sec 4 title"/>
          <p:cNvSpPr txBox="1"/>
          <p:nvPr/>
        </p:nvSpPr>
        <p:spPr>
          <a:xfrm>
            <a:off x="1234440" y="3063240"/>
            <a:ext cx="1691640" cy="457200"/>
          </a:xfrm>
          <a:prstGeom prst="rect">
            <a:avLst/>
          </a:prstGeom>
          <a:noFill/>
          <a:ln/>
        </p:spPr>
        <p:txBody>
          <a:bodyPr wrap="square" lIns="0" tIns="0" rIns="0" bIns="0" rtlCol="0" anchor="ctr"/>
          <a:lstStyle/>
          <a:p>
            <a:pPr indent="0" marL="0">
              <a:buNone/>
            </a:pPr>
            <a:r>
              <a:rPr lang="en-US" sz="1400" b="1" dirty="0">
                <a:solidFill>
                  <a:schemeClr val="tx1"/>
                </a:solidFill>
              </a:rPr>
              <a:t>Supply chain</a:t>
            </a:r>
            <a:endParaRPr lang="en-US" sz="1400" dirty="0"/>
          </a:p>
        </p:txBody>
      </p:sp>
      <p:sp>
        <p:nvSpPr>
          <p:cNvPr id="22" name="sec 4 body"/>
          <p:cNvSpPr txBox="1"/>
          <p:nvPr/>
        </p:nvSpPr>
        <p:spPr>
          <a:xfrm>
            <a:off x="640080" y="3611880"/>
            <a:ext cx="2240280" cy="594360"/>
          </a:xfrm>
          <a:prstGeom prst="rect">
            <a:avLst/>
          </a:prstGeom>
          <a:noFill/>
          <a:ln/>
        </p:spPr>
        <p:txBody>
          <a:bodyPr wrap="square" lIns="0" tIns="0" rIns="0" bIns="0" rtlCol="0" anchor="t"/>
          <a:lstStyle/>
          <a:p>
            <a:pPr indent="0" marL="0">
              <a:spcAft>
                <a:spcPts val="300"/>
              </a:spcAft>
              <a:buNone/>
            </a:pPr>
            <a:r>
              <a:rPr lang="en-US" sz="1200" dirty="0">
                <a:solidFill>
                  <a:schemeClr val="tx2"/>
                </a:solidFill>
              </a:rPr>
              <a:t>Every third-party action is pinned to a commit SHA</a:t>
            </a:r>
            <a:endParaRPr lang="en-US" sz="1200" dirty="0"/>
          </a:p>
        </p:txBody>
      </p:sp>
      <p:sp>
        <p:nvSpPr>
          <p:cNvPr id="23" name="sec 5 card"/>
          <p:cNvSpPr/>
          <p:nvPr/>
        </p:nvSpPr>
        <p:spPr>
          <a:xfrm>
            <a:off x="3246120" y="2880360"/>
            <a:ext cx="2606040" cy="1463040"/>
          </a:xfrm>
          <a:prstGeom prst="roundRect">
            <a:avLst>
              <a:gd name="adj" fmla="val 5000"/>
            </a:avLst>
          </a:prstGeom>
          <a:solidFill>
            <a:schemeClr val="bg2"/>
          </a:solidFill>
          <a:ln/>
        </p:spPr>
      </p:sp>
      <p:sp>
        <p:nvSpPr>
          <p:cNvPr id="24" name="sec 5 icon bg"/>
          <p:cNvSpPr/>
          <p:nvPr/>
        </p:nvSpPr>
        <p:spPr>
          <a:xfrm>
            <a:off x="3429000" y="3063240"/>
            <a:ext cx="457200" cy="457200"/>
          </a:xfrm>
          <a:prstGeom prst="ellipse">
            <a:avLst/>
          </a:prstGeom>
          <a:solidFill>
            <a:schemeClr val="bg1"/>
          </a:solidFill>
          <a:ln/>
        </p:spPr>
      </p:sp>
      <p:pic>
        <p:nvPicPr>
          <p:cNvPr id="25" name="sec 5 icon" descr="preencoded.png">    </p:cNvPr>
          <p:cNvPicPr>
            <a:picLocks noChangeAspect="1"/>
          </p:cNvPicPr>
          <p:nvPr/>
        </p:nvPicPr>
        <p:blipFill>
          <a:blip r:embed="rId5"/>
          <a:stretch>
            <a:fillRect/>
          </a:stretch>
        </p:blipFill>
        <p:spPr>
          <a:xfrm>
            <a:off x="3529584" y="3163824"/>
            <a:ext cx="256032" cy="256032"/>
          </a:xfrm>
          <a:prstGeom prst="rect">
            <a:avLst/>
          </a:prstGeom>
        </p:spPr>
      </p:pic>
      <p:sp>
        <p:nvSpPr>
          <p:cNvPr id="26" name="sec 5 title"/>
          <p:cNvSpPr txBox="1"/>
          <p:nvPr/>
        </p:nvSpPr>
        <p:spPr>
          <a:xfrm>
            <a:off x="4023360" y="3063240"/>
            <a:ext cx="1691640" cy="457200"/>
          </a:xfrm>
          <a:prstGeom prst="rect">
            <a:avLst/>
          </a:prstGeom>
          <a:noFill/>
          <a:ln/>
        </p:spPr>
        <p:txBody>
          <a:bodyPr wrap="square" lIns="0" tIns="0" rIns="0" bIns="0" rtlCol="0" anchor="ctr"/>
          <a:lstStyle/>
          <a:p>
            <a:pPr indent="0" marL="0">
              <a:buNone/>
            </a:pPr>
            <a:r>
              <a:rPr lang="en-US" sz="1400" b="1" dirty="0">
                <a:solidFill>
                  <a:schemeClr val="tx1"/>
                </a:solidFill>
              </a:rPr>
              <a:t>Least privilege</a:t>
            </a:r>
            <a:endParaRPr lang="en-US" sz="1400" dirty="0"/>
          </a:p>
        </p:txBody>
      </p:sp>
      <p:sp>
        <p:nvSpPr>
          <p:cNvPr id="27" name="sec 5 body"/>
          <p:cNvSpPr txBox="1"/>
          <p:nvPr/>
        </p:nvSpPr>
        <p:spPr>
          <a:xfrm>
            <a:off x="3429000" y="3611880"/>
            <a:ext cx="2240280" cy="594360"/>
          </a:xfrm>
          <a:prstGeom prst="rect">
            <a:avLst/>
          </a:prstGeom>
          <a:noFill/>
          <a:ln/>
        </p:spPr>
        <p:txBody>
          <a:bodyPr wrap="square" lIns="0" tIns="0" rIns="0" bIns="0" rtlCol="0" anchor="t"/>
          <a:lstStyle/>
          <a:p>
            <a:pPr indent="0" marL="0">
              <a:spcAft>
                <a:spcPts val="300"/>
              </a:spcAft>
              <a:buNone/>
            </a:pPr>
            <a:r>
              <a:rPr lang="en-US" sz="1200" dirty="0">
                <a:solidFill>
                  <a:schemeClr val="tx2"/>
                </a:solidFill>
              </a:rPr>
              <a:t>Read-only token by default; jobs request only the scopes they need</a:t>
            </a:r>
            <a:endParaRPr lang="en-US" sz="1200" dirty="0"/>
          </a:p>
        </p:txBody>
      </p:sp>
      <p:sp>
        <p:nvSpPr>
          <p:cNvPr id="28" name="sec 6 card"/>
          <p:cNvSpPr/>
          <p:nvPr/>
        </p:nvSpPr>
        <p:spPr>
          <a:xfrm>
            <a:off x="6035040" y="2880360"/>
            <a:ext cx="2606040" cy="1463040"/>
          </a:xfrm>
          <a:prstGeom prst="roundRect">
            <a:avLst>
              <a:gd name="adj" fmla="val 5000"/>
            </a:avLst>
          </a:prstGeom>
          <a:solidFill>
            <a:schemeClr val="bg2"/>
          </a:solidFill>
          <a:ln/>
        </p:spPr>
      </p:sp>
      <p:sp>
        <p:nvSpPr>
          <p:cNvPr id="29" name="sec 6 icon bg"/>
          <p:cNvSpPr/>
          <p:nvPr/>
        </p:nvSpPr>
        <p:spPr>
          <a:xfrm>
            <a:off x="6217920" y="3063240"/>
            <a:ext cx="457200" cy="457200"/>
          </a:xfrm>
          <a:prstGeom prst="ellipse">
            <a:avLst/>
          </a:prstGeom>
          <a:solidFill>
            <a:schemeClr val="bg1"/>
          </a:solidFill>
          <a:ln/>
        </p:spPr>
      </p:sp>
      <p:pic>
        <p:nvPicPr>
          <p:cNvPr id="30" name="sec 6 icon" descr="preencoded.png">    </p:cNvPr>
          <p:cNvPicPr>
            <a:picLocks noChangeAspect="1"/>
          </p:cNvPicPr>
          <p:nvPr/>
        </p:nvPicPr>
        <p:blipFill>
          <a:blip r:embed="rId6"/>
          <a:stretch>
            <a:fillRect/>
          </a:stretch>
        </p:blipFill>
        <p:spPr>
          <a:xfrm>
            <a:off x="6318504" y="3163824"/>
            <a:ext cx="256032" cy="256032"/>
          </a:xfrm>
          <a:prstGeom prst="rect">
            <a:avLst/>
          </a:prstGeom>
        </p:spPr>
      </p:pic>
      <p:sp>
        <p:nvSpPr>
          <p:cNvPr id="31" name="sec 6 title"/>
          <p:cNvSpPr txBox="1"/>
          <p:nvPr/>
        </p:nvSpPr>
        <p:spPr>
          <a:xfrm>
            <a:off x="6812280" y="3063240"/>
            <a:ext cx="1691640" cy="457200"/>
          </a:xfrm>
          <a:prstGeom prst="rect">
            <a:avLst/>
          </a:prstGeom>
          <a:noFill/>
          <a:ln/>
        </p:spPr>
        <p:txBody>
          <a:bodyPr wrap="square" lIns="0" tIns="0" rIns="0" bIns="0" rtlCol="0" anchor="ctr"/>
          <a:lstStyle/>
          <a:p>
            <a:pPr indent="0" marL="0">
              <a:buNone/>
            </a:pPr>
            <a:r>
              <a:rPr lang="en-US" sz="1400" b="1" dirty="0">
                <a:solidFill>
                  <a:schemeClr val="tx1"/>
                </a:solidFill>
              </a:rPr>
              <a:t>Secrets handling</a:t>
            </a:r>
            <a:endParaRPr lang="en-US" sz="1400" dirty="0"/>
          </a:p>
        </p:txBody>
      </p:sp>
      <p:sp>
        <p:nvSpPr>
          <p:cNvPr id="32" name="sec 6 body"/>
          <p:cNvSpPr txBox="1"/>
          <p:nvPr/>
        </p:nvSpPr>
        <p:spPr>
          <a:xfrm>
            <a:off x="6217920" y="3611880"/>
            <a:ext cx="2240280" cy="594360"/>
          </a:xfrm>
          <a:prstGeom prst="rect">
            <a:avLst/>
          </a:prstGeom>
          <a:noFill/>
          <a:ln/>
        </p:spPr>
        <p:txBody>
          <a:bodyPr wrap="square" lIns="0" tIns="0" rIns="0" bIns="0" rtlCol="0" anchor="t"/>
          <a:lstStyle/>
          <a:p>
            <a:pPr indent="0" marL="0">
              <a:spcAft>
                <a:spcPts val="300"/>
              </a:spcAft>
              <a:buNone/>
            </a:pPr>
            <a:r>
              <a:rPr lang="en-US" sz="1200" dirty="0">
                <a:solidFill>
                  <a:schemeClr val="tx2"/>
                </a:solidFill>
              </a:rPr>
              <a:t>DB password via TF_VAR, K8s Secret for creds, tfvars gitignored</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GitOps with Argo CD</a:t>
            </a:r>
            <a:endParaRPr lang="en-US" sz="3000" dirty="0"/>
          </a:p>
        </p:txBody>
      </p:sp>
      <p:sp>
        <p:nvSpPr>
          <p:cNvPr id="3" name="flow 1 badge"/>
          <p:cNvSpPr/>
          <p:nvPr/>
        </p:nvSpPr>
        <p:spPr>
          <a:xfrm>
            <a:off x="457200" y="1188720"/>
            <a:ext cx="457200" cy="457200"/>
          </a:xfrm>
          <a:prstGeom prst="ellipse">
            <a:avLst/>
          </a:prstGeom>
          <a:solidFill>
            <a:schemeClr val="accent1"/>
          </a:solidFill>
          <a:ln/>
        </p:spPr>
      </p:sp>
      <p:sp>
        <p:nvSpPr>
          <p:cNvPr id="4" name="flow 1 num"/>
          <p:cNvSpPr txBox="1"/>
          <p:nvPr/>
        </p:nvSpPr>
        <p:spPr>
          <a:xfrm>
            <a:off x="457200" y="11887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flow 1 text"/>
          <p:cNvSpPr txBox="1"/>
          <p:nvPr/>
        </p:nvSpPr>
        <p:spPr>
          <a:xfrm>
            <a:off x="1097280" y="1188720"/>
            <a:ext cx="3108960" cy="457200"/>
          </a:xfrm>
          <a:prstGeom prst="rect">
            <a:avLst/>
          </a:prstGeom>
          <a:noFill/>
          <a:ln/>
        </p:spPr>
        <p:txBody>
          <a:bodyPr wrap="square" lIns="0" tIns="0" rIns="0" bIns="0" rtlCol="0" anchor="ctr"/>
          <a:lstStyle/>
          <a:p>
            <a:pPr indent="0" marL="0">
              <a:buNone/>
            </a:pPr>
            <a:r>
              <a:rPr lang="en-US" sz="1500" dirty="0">
                <a:solidFill>
                  <a:schemeClr val="tx1"/>
                </a:solidFill>
              </a:rPr>
              <a:t>git push to main</a:t>
            </a:r>
            <a:endParaRPr lang="en-US" sz="1500" dirty="0"/>
          </a:p>
        </p:txBody>
      </p:sp>
      <p:sp>
        <p:nvSpPr>
          <p:cNvPr id="6" name="flow arrow 1"/>
          <p:cNvSpPr/>
          <p:nvPr/>
        </p:nvSpPr>
        <p:spPr>
          <a:xfrm>
            <a:off x="685800" y="1645920"/>
            <a:ext cx="914" cy="384048"/>
          </a:xfrm>
          <a:prstGeom prst="line">
            <a:avLst/>
          </a:prstGeom>
          <a:noFill/>
          <a:ln w="19050">
            <a:solidFill>
              <a:schemeClr val="accent4"/>
            </a:solidFill>
            <a:prstDash val="solid"/>
            <a:tailEnd type="triangle"/>
          </a:ln>
        </p:spPr>
      </p:sp>
      <p:sp>
        <p:nvSpPr>
          <p:cNvPr id="7" name="flow 2 badge"/>
          <p:cNvSpPr/>
          <p:nvPr/>
        </p:nvSpPr>
        <p:spPr>
          <a:xfrm>
            <a:off x="457200" y="2029968"/>
            <a:ext cx="457200" cy="457200"/>
          </a:xfrm>
          <a:prstGeom prst="ellipse">
            <a:avLst/>
          </a:prstGeom>
          <a:solidFill>
            <a:schemeClr val="accent1"/>
          </a:solidFill>
          <a:ln/>
        </p:spPr>
      </p:sp>
      <p:sp>
        <p:nvSpPr>
          <p:cNvPr id="8" name="flow 2 num"/>
          <p:cNvSpPr txBox="1"/>
          <p:nvPr/>
        </p:nvSpPr>
        <p:spPr>
          <a:xfrm>
            <a:off x="457200" y="202996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flow 2 text"/>
          <p:cNvSpPr txBox="1"/>
          <p:nvPr/>
        </p:nvSpPr>
        <p:spPr>
          <a:xfrm>
            <a:off x="1097280" y="2029968"/>
            <a:ext cx="3108960" cy="457200"/>
          </a:xfrm>
          <a:prstGeom prst="rect">
            <a:avLst/>
          </a:prstGeom>
          <a:noFill/>
          <a:ln/>
        </p:spPr>
        <p:txBody>
          <a:bodyPr wrap="square" lIns="0" tIns="0" rIns="0" bIns="0" rtlCol="0" anchor="ctr"/>
          <a:lstStyle/>
          <a:p>
            <a:pPr indent="0" marL="0">
              <a:buNone/>
            </a:pPr>
            <a:r>
              <a:rPr lang="en-US" sz="1500" dirty="0">
                <a:solidFill>
                  <a:schemeClr val="tx1"/>
                </a:solidFill>
              </a:rPr>
              <a:t>CI pushes image:&lt;sha&gt; to GHCR</a:t>
            </a:r>
            <a:endParaRPr lang="en-US" sz="1500" dirty="0"/>
          </a:p>
        </p:txBody>
      </p:sp>
      <p:sp>
        <p:nvSpPr>
          <p:cNvPr id="10" name="flow arrow 2"/>
          <p:cNvSpPr/>
          <p:nvPr/>
        </p:nvSpPr>
        <p:spPr>
          <a:xfrm>
            <a:off x="685800" y="2487168"/>
            <a:ext cx="914" cy="384048"/>
          </a:xfrm>
          <a:prstGeom prst="line">
            <a:avLst/>
          </a:prstGeom>
          <a:noFill/>
          <a:ln w="19050">
            <a:solidFill>
              <a:schemeClr val="accent4"/>
            </a:solidFill>
            <a:prstDash val="solid"/>
            <a:tailEnd type="triangle"/>
          </a:ln>
        </p:spPr>
      </p:sp>
      <p:sp>
        <p:nvSpPr>
          <p:cNvPr id="11" name="flow 3 badge"/>
          <p:cNvSpPr/>
          <p:nvPr/>
        </p:nvSpPr>
        <p:spPr>
          <a:xfrm>
            <a:off x="457200" y="2871216"/>
            <a:ext cx="457200" cy="457200"/>
          </a:xfrm>
          <a:prstGeom prst="ellipse">
            <a:avLst/>
          </a:prstGeom>
          <a:solidFill>
            <a:schemeClr val="accent1"/>
          </a:solidFill>
          <a:ln/>
        </p:spPr>
      </p:sp>
      <p:sp>
        <p:nvSpPr>
          <p:cNvPr id="12" name="flow 3 num"/>
          <p:cNvSpPr txBox="1"/>
          <p:nvPr/>
        </p:nvSpPr>
        <p:spPr>
          <a:xfrm>
            <a:off x="457200" y="287121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flow 3 text"/>
          <p:cNvSpPr txBox="1"/>
          <p:nvPr/>
        </p:nvSpPr>
        <p:spPr>
          <a:xfrm>
            <a:off x="1097280" y="2871216"/>
            <a:ext cx="3108960" cy="457200"/>
          </a:xfrm>
          <a:prstGeom prst="rect">
            <a:avLst/>
          </a:prstGeom>
          <a:noFill/>
          <a:ln/>
        </p:spPr>
        <p:txBody>
          <a:bodyPr wrap="square" lIns="0" tIns="0" rIns="0" bIns="0" rtlCol="0" anchor="ctr"/>
          <a:lstStyle/>
          <a:p>
            <a:pPr indent="0" marL="0">
              <a:buNone/>
            </a:pPr>
            <a:r>
              <a:rPr lang="en-US" sz="1500" dirty="0">
                <a:solidFill>
                  <a:schemeClr val="tx1"/>
                </a:solidFill>
              </a:rPr>
              <a:t>CI commits the new tag to kubernetes/</a:t>
            </a:r>
            <a:endParaRPr lang="en-US" sz="1500" dirty="0"/>
          </a:p>
        </p:txBody>
      </p:sp>
      <p:sp>
        <p:nvSpPr>
          <p:cNvPr id="14" name="flow arrow 3"/>
          <p:cNvSpPr/>
          <p:nvPr/>
        </p:nvSpPr>
        <p:spPr>
          <a:xfrm>
            <a:off x="685800" y="3328416"/>
            <a:ext cx="914" cy="384048"/>
          </a:xfrm>
          <a:prstGeom prst="line">
            <a:avLst/>
          </a:prstGeom>
          <a:noFill/>
          <a:ln w="19050">
            <a:solidFill>
              <a:schemeClr val="accent4"/>
            </a:solidFill>
            <a:prstDash val="solid"/>
            <a:tailEnd type="triangle"/>
          </a:ln>
        </p:spPr>
      </p:sp>
      <p:sp>
        <p:nvSpPr>
          <p:cNvPr id="15" name="flow 4 badge"/>
          <p:cNvSpPr/>
          <p:nvPr/>
        </p:nvSpPr>
        <p:spPr>
          <a:xfrm>
            <a:off x="457200" y="3712464"/>
            <a:ext cx="457200" cy="457200"/>
          </a:xfrm>
          <a:prstGeom prst="ellipse">
            <a:avLst/>
          </a:prstGeom>
          <a:solidFill>
            <a:schemeClr val="accent1"/>
          </a:solidFill>
          <a:ln/>
        </p:spPr>
      </p:sp>
      <p:sp>
        <p:nvSpPr>
          <p:cNvPr id="16" name="flow 4 num"/>
          <p:cNvSpPr txBox="1"/>
          <p:nvPr/>
        </p:nvSpPr>
        <p:spPr>
          <a:xfrm>
            <a:off x="457200" y="371246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7" name="flow 4 text"/>
          <p:cNvSpPr txBox="1"/>
          <p:nvPr/>
        </p:nvSpPr>
        <p:spPr>
          <a:xfrm>
            <a:off x="1097280" y="3712464"/>
            <a:ext cx="3108960" cy="457200"/>
          </a:xfrm>
          <a:prstGeom prst="rect">
            <a:avLst/>
          </a:prstGeom>
          <a:noFill/>
          <a:ln/>
        </p:spPr>
        <p:txBody>
          <a:bodyPr wrap="square" lIns="0" tIns="0" rIns="0" bIns="0" rtlCol="0" anchor="ctr"/>
          <a:lstStyle/>
          <a:p>
            <a:pPr indent="0" marL="0">
              <a:buNone/>
            </a:pPr>
            <a:r>
              <a:rPr lang="en-US" sz="1500" dirty="0">
                <a:solidFill>
                  <a:schemeClr val="tx1"/>
                </a:solidFill>
              </a:rPr>
              <a:t>Argo CD detects the commit and syncs</a:t>
            </a:r>
            <a:endParaRPr lang="en-US" sz="1500" dirty="0"/>
          </a:p>
        </p:txBody>
      </p:sp>
      <p:sp>
        <p:nvSpPr>
          <p:cNvPr id="18" name="root app box"/>
          <p:cNvSpPr/>
          <p:nvPr/>
        </p:nvSpPr>
        <p:spPr>
          <a:xfrm>
            <a:off x="5486400" y="1188720"/>
            <a:ext cx="2377440" cy="685800"/>
          </a:xfrm>
          <a:prstGeom prst="roundRect">
            <a:avLst>
              <a:gd name="adj" fmla="val 10667"/>
            </a:avLst>
          </a:prstGeom>
          <a:solidFill>
            <a:schemeClr val="bg2"/>
          </a:solidFill>
          <a:ln/>
        </p:spPr>
      </p:sp>
      <p:pic>
        <p:nvPicPr>
          <p:cNvPr id="19" name="root app icon" descr="preencoded.png">    </p:cNvPr>
          <p:cNvPicPr>
            <a:picLocks noChangeAspect="1"/>
          </p:cNvPicPr>
          <p:nvPr/>
        </p:nvPicPr>
        <p:blipFill>
          <a:blip r:embed="rId1"/>
          <a:stretch>
            <a:fillRect/>
          </a:stretch>
        </p:blipFill>
        <p:spPr>
          <a:xfrm>
            <a:off x="5596128" y="1385316"/>
            <a:ext cx="292608" cy="292608"/>
          </a:xfrm>
          <a:prstGeom prst="rect">
            <a:avLst/>
          </a:prstGeom>
        </p:spPr>
      </p:pic>
      <p:sp>
        <p:nvSpPr>
          <p:cNvPr id="20" name="root app label"/>
          <p:cNvSpPr txBox="1"/>
          <p:nvPr/>
        </p:nvSpPr>
        <p:spPr>
          <a:xfrm>
            <a:off x="5961888" y="1188720"/>
            <a:ext cx="1828800" cy="685800"/>
          </a:xfrm>
          <a:prstGeom prst="rect">
            <a:avLst/>
          </a:prstGeom>
          <a:noFill/>
          <a:ln/>
        </p:spPr>
        <p:txBody>
          <a:bodyPr wrap="square" lIns="0" tIns="0" rIns="0" bIns="0" rtlCol="0" anchor="ctr"/>
          <a:lstStyle/>
          <a:p>
            <a:pPr indent="0" marL="0">
              <a:buNone/>
            </a:pPr>
            <a:r>
              <a:rPr lang="en-US" sz="1200" b="1" dirty="0">
                <a:solidFill>
                  <a:schemeClr val="tx1"/>
                </a:solidFill>
              </a:rPr>
              <a:t>root-application</a:t>
            </a:r>
            <a:endParaRPr lang="en-US" sz="1200" dirty="0"/>
          </a:p>
          <a:p>
            <a:pPr indent="0" marL="0">
              <a:buNone/>
            </a:pPr>
            <a:r>
              <a:rPr lang="en-US" sz="1000" dirty="0">
                <a:solidFill>
                  <a:schemeClr val="tx2"/>
                </a:solidFill>
              </a:rPr>
              <a:t>watches gitops/apps/</a:t>
            </a:r>
            <a:endParaRPr lang="en-US" sz="1200" dirty="0"/>
          </a:p>
        </p:txBody>
      </p:sp>
      <p:sp>
        <p:nvSpPr>
          <p:cNvPr id="21" name="order app box"/>
          <p:cNvSpPr/>
          <p:nvPr/>
        </p:nvSpPr>
        <p:spPr>
          <a:xfrm>
            <a:off x="4572000" y="2514600"/>
            <a:ext cx="1828800" cy="685800"/>
          </a:xfrm>
          <a:prstGeom prst="roundRect">
            <a:avLst>
              <a:gd name="adj" fmla="val 10667"/>
            </a:avLst>
          </a:prstGeom>
          <a:solidFill>
            <a:schemeClr val="accent6"/>
          </a:solidFill>
          <a:ln/>
        </p:spPr>
      </p:sp>
      <p:sp>
        <p:nvSpPr>
          <p:cNvPr id="22" name="order app label"/>
          <p:cNvSpPr txBox="1"/>
          <p:nvPr/>
        </p:nvSpPr>
        <p:spPr>
          <a:xfrm>
            <a:off x="4663440" y="2514600"/>
            <a:ext cx="1664208" cy="685800"/>
          </a:xfrm>
          <a:prstGeom prst="rect">
            <a:avLst/>
          </a:prstGeom>
          <a:noFill/>
          <a:ln/>
        </p:spPr>
        <p:txBody>
          <a:bodyPr wrap="square" lIns="0" tIns="0" rIns="0" bIns="0" rtlCol="0" anchor="ctr"/>
          <a:lstStyle/>
          <a:p>
            <a:pPr indent="0" marL="0">
              <a:buNone/>
            </a:pPr>
            <a:r>
              <a:rPr lang="en-US" sz="1200" b="1" dirty="0">
                <a:solidFill>
                  <a:schemeClr val="tx1"/>
                </a:solidFill>
              </a:rPr>
              <a:t>order-system</a:t>
            </a:r>
            <a:endParaRPr lang="en-US" sz="1200" dirty="0"/>
          </a:p>
          <a:p>
            <a:pPr indent="0" marL="0">
              <a:buNone/>
            </a:pPr>
            <a:r>
              <a:rPr lang="en-US" sz="1000" dirty="0">
                <a:solidFill>
                  <a:schemeClr val="tx2"/>
                </a:solidFill>
              </a:rPr>
              <a:t>kubernetes/ → orders</a:t>
            </a:r>
            <a:endParaRPr lang="en-US" sz="1200" dirty="0"/>
          </a:p>
        </p:txBody>
      </p:sp>
      <p:sp>
        <p:nvSpPr>
          <p:cNvPr id="23" name="monitoring app box"/>
          <p:cNvSpPr/>
          <p:nvPr/>
        </p:nvSpPr>
        <p:spPr>
          <a:xfrm>
            <a:off x="6858000" y="2514600"/>
            <a:ext cx="1828800" cy="685800"/>
          </a:xfrm>
          <a:prstGeom prst="roundRect">
            <a:avLst>
              <a:gd name="adj" fmla="val 10667"/>
            </a:avLst>
          </a:prstGeom>
          <a:solidFill>
            <a:schemeClr val="accent6"/>
          </a:solidFill>
          <a:ln/>
        </p:spPr>
      </p:sp>
      <p:sp>
        <p:nvSpPr>
          <p:cNvPr id="24" name="monitoring app label"/>
          <p:cNvSpPr txBox="1"/>
          <p:nvPr/>
        </p:nvSpPr>
        <p:spPr>
          <a:xfrm>
            <a:off x="6949440" y="2514600"/>
            <a:ext cx="1664208" cy="685800"/>
          </a:xfrm>
          <a:prstGeom prst="rect">
            <a:avLst/>
          </a:prstGeom>
          <a:noFill/>
          <a:ln/>
        </p:spPr>
        <p:txBody>
          <a:bodyPr wrap="square" lIns="0" tIns="0" rIns="0" bIns="0" rtlCol="0" anchor="ctr"/>
          <a:lstStyle/>
          <a:p>
            <a:pPr indent="0" marL="0">
              <a:buNone/>
            </a:pPr>
            <a:r>
              <a:rPr lang="en-US" sz="1200" b="1" dirty="0">
                <a:solidFill>
                  <a:schemeClr val="tx1"/>
                </a:solidFill>
              </a:rPr>
              <a:t>monitoring</a:t>
            </a:r>
            <a:endParaRPr lang="en-US" sz="1200" dirty="0"/>
          </a:p>
          <a:p>
            <a:pPr indent="0" marL="0">
              <a:buNone/>
            </a:pPr>
            <a:r>
              <a:rPr lang="en-US" sz="1000" dirty="0">
                <a:solidFill>
                  <a:schemeClr val="tx2"/>
                </a:solidFill>
              </a:rPr>
              <a:t>monitoring/ → monitoring</a:t>
            </a:r>
            <a:endParaRPr lang="en-US" sz="1200" dirty="0"/>
          </a:p>
        </p:txBody>
      </p:sp>
      <p:sp>
        <p:nvSpPr>
          <p:cNvPr id="25" name="tree arrow left"/>
          <p:cNvSpPr/>
          <p:nvPr/>
        </p:nvSpPr>
        <p:spPr>
          <a:xfrm flipH="1">
            <a:off x="5486400" y="1874520"/>
            <a:ext cx="822960" cy="640080"/>
          </a:xfrm>
          <a:prstGeom prst="line">
            <a:avLst/>
          </a:prstGeom>
          <a:noFill/>
          <a:ln w="19050">
            <a:solidFill>
              <a:schemeClr val="accent4"/>
            </a:solidFill>
            <a:prstDash val="solid"/>
            <a:tailEnd type="triangle"/>
          </a:ln>
        </p:spPr>
      </p:sp>
      <p:sp>
        <p:nvSpPr>
          <p:cNvPr id="26" name="tree arrow right"/>
          <p:cNvSpPr/>
          <p:nvPr/>
        </p:nvSpPr>
        <p:spPr>
          <a:xfrm>
            <a:off x="7040880" y="1874520"/>
            <a:ext cx="731520" cy="640080"/>
          </a:xfrm>
          <a:prstGeom prst="line">
            <a:avLst/>
          </a:prstGeom>
          <a:noFill/>
          <a:ln w="19050">
            <a:solidFill>
              <a:schemeClr val="accent4"/>
            </a:solidFill>
            <a:prstDash val="solid"/>
            <a:tailEnd type="triangle"/>
          </a:ln>
        </p:spPr>
      </p:sp>
      <p:sp>
        <p:nvSpPr>
          <p:cNvPr id="27" name="sync policy"/>
          <p:cNvSpPr txBox="1"/>
          <p:nvPr/>
        </p:nvSpPr>
        <p:spPr>
          <a:xfrm>
            <a:off x="4572000" y="3520440"/>
            <a:ext cx="4114800" cy="822960"/>
          </a:xfrm>
          <a:prstGeom prst="rect">
            <a:avLst/>
          </a:prstGeom>
          <a:noFill/>
          <a:ln/>
        </p:spPr>
        <p:txBody>
          <a:bodyPr wrap="square" lIns="0" tIns="0" rIns="0" bIns="0" rtlCol="0" anchor="t"/>
          <a:lstStyle/>
          <a:p>
            <a:pPr indent="0" marL="0">
              <a:buNone/>
            </a:pPr>
            <a:r>
              <a:rPr lang="en-US" sz="1300" b="1" dirty="0">
                <a:solidFill>
                  <a:schemeClr val="tx1"/>
                </a:solidFill>
              </a:rPr>
              <a:t>prune: </a:t>
            </a:r>
            <a:pPr indent="0" marL="0">
              <a:buNone/>
            </a:pPr>
            <a:r>
              <a:rPr lang="en-US" sz="1300" dirty="0">
                <a:solidFill>
                  <a:schemeClr val="tx2"/>
                </a:solidFill>
              </a:rPr>
              <a:t>removed from Git, removed from cluster</a:t>
            </a:r>
            <a:endParaRPr lang="en-US" sz="1300" dirty="0"/>
          </a:p>
          <a:p>
            <a:pPr indent="0" marL="0">
              <a:buNone/>
            </a:pPr>
            <a:r>
              <a:rPr lang="en-US" sz="1300" b="1" dirty="0">
                <a:solidFill>
                  <a:schemeClr val="tx1"/>
                </a:solidFill>
              </a:rPr>
              <a:t>selfHeal: </a:t>
            </a:r>
            <a:pPr indent="0" marL="0">
              <a:buNone/>
            </a:pPr>
            <a:r>
              <a:rPr lang="en-US" sz="1300" dirty="0">
                <a:solidFill>
                  <a:schemeClr val="tx2"/>
                </a:solidFill>
              </a:rPr>
              <a:t>manual kubectl changes are reverted</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Kubernetes resources</a:t>
            </a:r>
            <a:endParaRPr lang="en-US" sz="3000" dirty="0"/>
          </a:p>
        </p:txBody>
      </p:sp>
      <p:sp>
        <p:nvSpPr>
          <p:cNvPr id="3" name="k8s 1 card"/>
          <p:cNvSpPr/>
          <p:nvPr/>
        </p:nvSpPr>
        <p:spPr>
          <a:xfrm>
            <a:off x="457200" y="1188720"/>
            <a:ext cx="2606040" cy="1463040"/>
          </a:xfrm>
          <a:prstGeom prst="roundRect">
            <a:avLst>
              <a:gd name="adj" fmla="val 5000"/>
            </a:avLst>
          </a:prstGeom>
          <a:solidFill>
            <a:schemeClr val="bg2"/>
          </a:solidFill>
          <a:ln/>
        </p:spPr>
      </p:sp>
      <p:sp>
        <p:nvSpPr>
          <p:cNvPr id="4" name="k8s 1 icon bg"/>
          <p:cNvSpPr/>
          <p:nvPr/>
        </p:nvSpPr>
        <p:spPr>
          <a:xfrm>
            <a:off x="640080" y="1371600"/>
            <a:ext cx="457200" cy="457200"/>
          </a:xfrm>
          <a:prstGeom prst="ellipse">
            <a:avLst/>
          </a:prstGeom>
          <a:solidFill>
            <a:schemeClr val="bg1"/>
          </a:solidFill>
          <a:ln/>
        </p:spPr>
      </p:sp>
      <p:pic>
        <p:nvPicPr>
          <p:cNvPr id="5" name="k8s 1 icon" descr="preencoded.png">    </p:cNvPr>
          <p:cNvPicPr>
            <a:picLocks noChangeAspect="1"/>
          </p:cNvPicPr>
          <p:nvPr/>
        </p:nvPicPr>
        <p:blipFill>
          <a:blip r:embed="rId1"/>
          <a:stretch>
            <a:fillRect/>
          </a:stretch>
        </p:blipFill>
        <p:spPr>
          <a:xfrm>
            <a:off x="740664" y="1472184"/>
            <a:ext cx="256032" cy="256032"/>
          </a:xfrm>
          <a:prstGeom prst="rect">
            <a:avLst/>
          </a:prstGeom>
        </p:spPr>
      </p:pic>
      <p:sp>
        <p:nvSpPr>
          <p:cNvPr id="6" name="k8s 1 title"/>
          <p:cNvSpPr txBox="1"/>
          <p:nvPr/>
        </p:nvSpPr>
        <p:spPr>
          <a:xfrm>
            <a:off x="1234440" y="1371600"/>
            <a:ext cx="1691640" cy="457200"/>
          </a:xfrm>
          <a:prstGeom prst="rect">
            <a:avLst/>
          </a:prstGeom>
          <a:noFill/>
          <a:ln/>
        </p:spPr>
        <p:txBody>
          <a:bodyPr wrap="square" lIns="0" tIns="0" rIns="0" bIns="0" rtlCol="0" anchor="ctr"/>
          <a:lstStyle/>
          <a:p>
            <a:pPr indent="0" marL="0">
              <a:buNone/>
            </a:pPr>
            <a:r>
              <a:rPr lang="en-US" sz="1400" b="1" dirty="0">
                <a:solidFill>
                  <a:schemeClr val="tx1"/>
                </a:solidFill>
              </a:rPr>
              <a:t>Deployments</a:t>
            </a:r>
            <a:endParaRPr lang="en-US" sz="1400" dirty="0"/>
          </a:p>
        </p:txBody>
      </p:sp>
      <p:sp>
        <p:nvSpPr>
          <p:cNvPr id="7" name="k8s 1 body"/>
          <p:cNvSpPr txBox="1"/>
          <p:nvPr/>
        </p:nvSpPr>
        <p:spPr>
          <a:xfrm>
            <a:off x="640080" y="1920240"/>
            <a:ext cx="2240280" cy="594360"/>
          </a:xfrm>
          <a:prstGeom prst="rect">
            <a:avLst/>
          </a:prstGeom>
          <a:noFill/>
          <a:ln/>
        </p:spPr>
        <p:txBody>
          <a:bodyPr wrap="square" lIns="0" tIns="0" rIns="0" bIns="0" rtlCol="0" anchor="t"/>
          <a:lstStyle/>
          <a:p>
            <a:pPr indent="0" marL="0">
              <a:spcAft>
                <a:spcPts val="300"/>
              </a:spcAft>
              <a:buNone/>
            </a:pPr>
            <a:r>
              <a:rPr lang="en-US" sz="1200" dirty="0">
                <a:solidFill>
                  <a:schemeClr val="tx2"/>
                </a:solidFill>
              </a:rPr>
              <a:t>order-service x2, inventory-service x1, Postgres, all with requests and limits</a:t>
            </a:r>
            <a:endParaRPr lang="en-US" sz="1200" dirty="0"/>
          </a:p>
        </p:txBody>
      </p:sp>
      <p:sp>
        <p:nvSpPr>
          <p:cNvPr id="8" name="k8s 2 card"/>
          <p:cNvSpPr/>
          <p:nvPr/>
        </p:nvSpPr>
        <p:spPr>
          <a:xfrm>
            <a:off x="3246120" y="1188720"/>
            <a:ext cx="2606040" cy="1463040"/>
          </a:xfrm>
          <a:prstGeom prst="roundRect">
            <a:avLst>
              <a:gd name="adj" fmla="val 5000"/>
            </a:avLst>
          </a:prstGeom>
          <a:solidFill>
            <a:schemeClr val="bg2"/>
          </a:solidFill>
          <a:ln/>
        </p:spPr>
      </p:sp>
      <p:sp>
        <p:nvSpPr>
          <p:cNvPr id="9" name="k8s 2 icon bg"/>
          <p:cNvSpPr/>
          <p:nvPr/>
        </p:nvSpPr>
        <p:spPr>
          <a:xfrm>
            <a:off x="3429000" y="1371600"/>
            <a:ext cx="457200" cy="457200"/>
          </a:xfrm>
          <a:prstGeom prst="ellipse">
            <a:avLst/>
          </a:prstGeom>
          <a:solidFill>
            <a:schemeClr val="bg1"/>
          </a:solidFill>
          <a:ln/>
        </p:spPr>
      </p:sp>
      <p:pic>
        <p:nvPicPr>
          <p:cNvPr id="10" name="k8s 2 icon" descr="preencoded.png">    </p:cNvPr>
          <p:cNvPicPr>
            <a:picLocks noChangeAspect="1"/>
          </p:cNvPicPr>
          <p:nvPr/>
        </p:nvPicPr>
        <p:blipFill>
          <a:blip r:embed="rId2"/>
          <a:stretch>
            <a:fillRect/>
          </a:stretch>
        </p:blipFill>
        <p:spPr>
          <a:xfrm>
            <a:off x="3529584" y="1472184"/>
            <a:ext cx="256032" cy="256032"/>
          </a:xfrm>
          <a:prstGeom prst="rect">
            <a:avLst/>
          </a:prstGeom>
        </p:spPr>
      </p:pic>
      <p:sp>
        <p:nvSpPr>
          <p:cNvPr id="11" name="k8s 2 title"/>
          <p:cNvSpPr txBox="1"/>
          <p:nvPr/>
        </p:nvSpPr>
        <p:spPr>
          <a:xfrm>
            <a:off x="4023360" y="1371600"/>
            <a:ext cx="1691640" cy="457200"/>
          </a:xfrm>
          <a:prstGeom prst="rect">
            <a:avLst/>
          </a:prstGeom>
          <a:noFill/>
          <a:ln/>
        </p:spPr>
        <p:txBody>
          <a:bodyPr wrap="square" lIns="0" tIns="0" rIns="0" bIns="0" rtlCol="0" anchor="ctr"/>
          <a:lstStyle/>
          <a:p>
            <a:pPr indent="0" marL="0">
              <a:buNone/>
            </a:pPr>
            <a:r>
              <a:rPr lang="en-US" sz="1400" b="1" dirty="0">
                <a:solidFill>
                  <a:schemeClr val="tx1"/>
                </a:solidFill>
              </a:rPr>
              <a:t>Probes</a:t>
            </a:r>
            <a:endParaRPr lang="en-US" sz="1400" dirty="0"/>
          </a:p>
        </p:txBody>
      </p:sp>
      <p:sp>
        <p:nvSpPr>
          <p:cNvPr id="12" name="k8s 2 body"/>
          <p:cNvSpPr txBox="1"/>
          <p:nvPr/>
        </p:nvSpPr>
        <p:spPr>
          <a:xfrm>
            <a:off x="3429000" y="1920240"/>
            <a:ext cx="2240280" cy="594360"/>
          </a:xfrm>
          <a:prstGeom prst="rect">
            <a:avLst/>
          </a:prstGeom>
          <a:noFill/>
          <a:ln/>
        </p:spPr>
        <p:txBody>
          <a:bodyPr wrap="square" lIns="0" tIns="0" rIns="0" bIns="0" rtlCol="0" anchor="t"/>
          <a:lstStyle/>
          <a:p>
            <a:pPr indent="0" marL="0">
              <a:spcAft>
                <a:spcPts val="300"/>
              </a:spcAft>
              <a:buNone/>
            </a:pPr>
            <a:r>
              <a:rPr lang="en-US" sz="1200" dirty="0">
                <a:solidFill>
                  <a:schemeClr val="tx2"/>
                </a:solidFill>
              </a:rPr>
              <a:t>Readiness gates traffic, liveness restarts stuck containers</a:t>
            </a:r>
            <a:endParaRPr lang="en-US" sz="1200" dirty="0"/>
          </a:p>
        </p:txBody>
      </p:sp>
      <p:sp>
        <p:nvSpPr>
          <p:cNvPr id="13" name="k8s 3 card"/>
          <p:cNvSpPr/>
          <p:nvPr/>
        </p:nvSpPr>
        <p:spPr>
          <a:xfrm>
            <a:off x="6035040" y="1188720"/>
            <a:ext cx="2606040" cy="1463040"/>
          </a:xfrm>
          <a:prstGeom prst="roundRect">
            <a:avLst>
              <a:gd name="adj" fmla="val 5000"/>
            </a:avLst>
          </a:prstGeom>
          <a:solidFill>
            <a:schemeClr val="bg2"/>
          </a:solidFill>
          <a:ln/>
        </p:spPr>
      </p:sp>
      <p:sp>
        <p:nvSpPr>
          <p:cNvPr id="14" name="k8s 3 icon bg"/>
          <p:cNvSpPr/>
          <p:nvPr/>
        </p:nvSpPr>
        <p:spPr>
          <a:xfrm>
            <a:off x="6217920" y="1371600"/>
            <a:ext cx="457200" cy="457200"/>
          </a:xfrm>
          <a:prstGeom prst="ellipse">
            <a:avLst/>
          </a:prstGeom>
          <a:solidFill>
            <a:schemeClr val="bg1"/>
          </a:solidFill>
          <a:ln/>
        </p:spPr>
      </p:sp>
      <p:pic>
        <p:nvPicPr>
          <p:cNvPr id="15" name="k8s 3 icon" descr="preencoded.png">    </p:cNvPr>
          <p:cNvPicPr>
            <a:picLocks noChangeAspect="1"/>
          </p:cNvPicPr>
          <p:nvPr/>
        </p:nvPicPr>
        <p:blipFill>
          <a:blip r:embed="rId3"/>
          <a:stretch>
            <a:fillRect/>
          </a:stretch>
        </p:blipFill>
        <p:spPr>
          <a:xfrm>
            <a:off x="6318504" y="1472184"/>
            <a:ext cx="256032" cy="256032"/>
          </a:xfrm>
          <a:prstGeom prst="rect">
            <a:avLst/>
          </a:prstGeom>
        </p:spPr>
      </p:pic>
      <p:sp>
        <p:nvSpPr>
          <p:cNvPr id="16" name="k8s 3 title"/>
          <p:cNvSpPr txBox="1"/>
          <p:nvPr/>
        </p:nvSpPr>
        <p:spPr>
          <a:xfrm>
            <a:off x="6812280" y="1371600"/>
            <a:ext cx="1691640" cy="457200"/>
          </a:xfrm>
          <a:prstGeom prst="rect">
            <a:avLst/>
          </a:prstGeom>
          <a:noFill/>
          <a:ln/>
        </p:spPr>
        <p:txBody>
          <a:bodyPr wrap="square" lIns="0" tIns="0" rIns="0" bIns="0" rtlCol="0" anchor="ctr"/>
          <a:lstStyle/>
          <a:p>
            <a:pPr indent="0" marL="0">
              <a:buNone/>
            </a:pPr>
            <a:r>
              <a:rPr lang="en-US" sz="1400" b="1" dirty="0">
                <a:solidFill>
                  <a:schemeClr val="tx1"/>
                </a:solidFill>
              </a:rPr>
              <a:t>Autoscaling</a:t>
            </a:r>
            <a:endParaRPr lang="en-US" sz="1400" dirty="0"/>
          </a:p>
        </p:txBody>
      </p:sp>
      <p:sp>
        <p:nvSpPr>
          <p:cNvPr id="17" name="k8s 3 body"/>
          <p:cNvSpPr txBox="1"/>
          <p:nvPr/>
        </p:nvSpPr>
        <p:spPr>
          <a:xfrm>
            <a:off x="6217920" y="1920240"/>
            <a:ext cx="2240280" cy="594360"/>
          </a:xfrm>
          <a:prstGeom prst="rect">
            <a:avLst/>
          </a:prstGeom>
          <a:noFill/>
          <a:ln/>
        </p:spPr>
        <p:txBody>
          <a:bodyPr wrap="square" lIns="0" tIns="0" rIns="0" bIns="0" rtlCol="0" anchor="t"/>
          <a:lstStyle/>
          <a:p>
            <a:pPr indent="0" marL="0">
              <a:spcAft>
                <a:spcPts val="300"/>
              </a:spcAft>
              <a:buNone/>
            </a:pPr>
            <a:r>
              <a:rPr lang="en-US" sz="1200" dirty="0">
                <a:solidFill>
                  <a:schemeClr val="tx2"/>
                </a:solidFill>
              </a:rPr>
              <a:t>HPA scales order-service from 2 to 5 pods at 70% CPU</a:t>
            </a:r>
            <a:endParaRPr lang="en-US" sz="1200" dirty="0"/>
          </a:p>
        </p:txBody>
      </p:sp>
      <p:sp>
        <p:nvSpPr>
          <p:cNvPr id="18" name="k8s 4 card"/>
          <p:cNvSpPr/>
          <p:nvPr/>
        </p:nvSpPr>
        <p:spPr>
          <a:xfrm>
            <a:off x="457200" y="2880360"/>
            <a:ext cx="2606040" cy="1463040"/>
          </a:xfrm>
          <a:prstGeom prst="roundRect">
            <a:avLst>
              <a:gd name="adj" fmla="val 5000"/>
            </a:avLst>
          </a:prstGeom>
          <a:solidFill>
            <a:schemeClr val="bg2"/>
          </a:solidFill>
          <a:ln/>
        </p:spPr>
      </p:sp>
      <p:sp>
        <p:nvSpPr>
          <p:cNvPr id="19" name="k8s 4 icon bg"/>
          <p:cNvSpPr/>
          <p:nvPr/>
        </p:nvSpPr>
        <p:spPr>
          <a:xfrm>
            <a:off x="640080" y="3063240"/>
            <a:ext cx="457200" cy="457200"/>
          </a:xfrm>
          <a:prstGeom prst="ellipse">
            <a:avLst/>
          </a:prstGeom>
          <a:solidFill>
            <a:schemeClr val="bg1"/>
          </a:solidFill>
          <a:ln/>
        </p:spPr>
      </p:sp>
      <p:pic>
        <p:nvPicPr>
          <p:cNvPr id="20" name="k8s 4 icon" descr="preencoded.png">    </p:cNvPr>
          <p:cNvPicPr>
            <a:picLocks noChangeAspect="1"/>
          </p:cNvPicPr>
          <p:nvPr/>
        </p:nvPicPr>
        <p:blipFill>
          <a:blip r:embed="rId4"/>
          <a:stretch>
            <a:fillRect/>
          </a:stretch>
        </p:blipFill>
        <p:spPr>
          <a:xfrm>
            <a:off x="740664" y="3163824"/>
            <a:ext cx="256032" cy="256032"/>
          </a:xfrm>
          <a:prstGeom prst="rect">
            <a:avLst/>
          </a:prstGeom>
        </p:spPr>
      </p:pic>
      <p:sp>
        <p:nvSpPr>
          <p:cNvPr id="21" name="k8s 4 title"/>
          <p:cNvSpPr txBox="1"/>
          <p:nvPr/>
        </p:nvSpPr>
        <p:spPr>
          <a:xfrm>
            <a:off x="1234440" y="3063240"/>
            <a:ext cx="1691640" cy="457200"/>
          </a:xfrm>
          <a:prstGeom prst="rect">
            <a:avLst/>
          </a:prstGeom>
          <a:noFill/>
          <a:ln/>
        </p:spPr>
        <p:txBody>
          <a:bodyPr wrap="square" lIns="0" tIns="0" rIns="0" bIns="0" rtlCol="0" anchor="ctr"/>
          <a:lstStyle/>
          <a:p>
            <a:pPr indent="0" marL="0">
              <a:buNone/>
            </a:pPr>
            <a:r>
              <a:rPr lang="en-US" sz="1400" b="1" dirty="0">
                <a:solidFill>
                  <a:schemeClr val="tx1"/>
                </a:solidFill>
              </a:rPr>
              <a:t>Ingress</a:t>
            </a:r>
            <a:endParaRPr lang="en-US" sz="1400" dirty="0"/>
          </a:p>
        </p:txBody>
      </p:sp>
      <p:sp>
        <p:nvSpPr>
          <p:cNvPr id="22" name="k8s 4 body"/>
          <p:cNvSpPr txBox="1"/>
          <p:nvPr/>
        </p:nvSpPr>
        <p:spPr>
          <a:xfrm>
            <a:off x="640080" y="3611880"/>
            <a:ext cx="2240280" cy="594360"/>
          </a:xfrm>
          <a:prstGeom prst="rect">
            <a:avLst/>
          </a:prstGeom>
          <a:noFill/>
          <a:ln/>
        </p:spPr>
        <p:txBody>
          <a:bodyPr wrap="square" lIns="0" tIns="0" rIns="0" bIns="0" rtlCol="0" anchor="t"/>
          <a:lstStyle/>
          <a:p>
            <a:pPr indent="0" marL="0">
              <a:spcAft>
                <a:spcPts val="300"/>
              </a:spcAft>
              <a:buNone/>
            </a:pPr>
            <a:r>
              <a:rPr lang="en-US" sz="1200" dirty="0">
                <a:solidFill>
                  <a:schemeClr val="tx2"/>
                </a:solidFill>
              </a:rPr>
              <a:t>NGINX routes orders.local to the order-service Service</a:t>
            </a:r>
            <a:endParaRPr lang="en-US" sz="1200" dirty="0"/>
          </a:p>
        </p:txBody>
      </p:sp>
      <p:sp>
        <p:nvSpPr>
          <p:cNvPr id="23" name="k8s 5 card"/>
          <p:cNvSpPr/>
          <p:nvPr/>
        </p:nvSpPr>
        <p:spPr>
          <a:xfrm>
            <a:off x="3246120" y="2880360"/>
            <a:ext cx="2606040" cy="1463040"/>
          </a:xfrm>
          <a:prstGeom prst="roundRect">
            <a:avLst>
              <a:gd name="adj" fmla="val 5000"/>
            </a:avLst>
          </a:prstGeom>
          <a:solidFill>
            <a:schemeClr val="bg2"/>
          </a:solidFill>
          <a:ln/>
        </p:spPr>
      </p:sp>
      <p:sp>
        <p:nvSpPr>
          <p:cNvPr id="24" name="k8s 5 icon bg"/>
          <p:cNvSpPr/>
          <p:nvPr/>
        </p:nvSpPr>
        <p:spPr>
          <a:xfrm>
            <a:off x="3429000" y="3063240"/>
            <a:ext cx="457200" cy="457200"/>
          </a:xfrm>
          <a:prstGeom prst="ellipse">
            <a:avLst/>
          </a:prstGeom>
          <a:solidFill>
            <a:schemeClr val="bg1"/>
          </a:solidFill>
          <a:ln/>
        </p:spPr>
      </p:sp>
      <p:pic>
        <p:nvPicPr>
          <p:cNvPr id="25" name="k8s 5 icon" descr="preencoded.png">    </p:cNvPr>
          <p:cNvPicPr>
            <a:picLocks noChangeAspect="1"/>
          </p:cNvPicPr>
          <p:nvPr/>
        </p:nvPicPr>
        <p:blipFill>
          <a:blip r:embed="rId5"/>
          <a:stretch>
            <a:fillRect/>
          </a:stretch>
        </p:blipFill>
        <p:spPr>
          <a:xfrm>
            <a:off x="3529584" y="3163824"/>
            <a:ext cx="256032" cy="256032"/>
          </a:xfrm>
          <a:prstGeom prst="rect">
            <a:avLst/>
          </a:prstGeom>
        </p:spPr>
      </p:pic>
      <p:sp>
        <p:nvSpPr>
          <p:cNvPr id="26" name="k8s 5 title"/>
          <p:cNvSpPr txBox="1"/>
          <p:nvPr/>
        </p:nvSpPr>
        <p:spPr>
          <a:xfrm>
            <a:off x="4023360" y="3063240"/>
            <a:ext cx="1691640" cy="457200"/>
          </a:xfrm>
          <a:prstGeom prst="rect">
            <a:avLst/>
          </a:prstGeom>
          <a:noFill/>
          <a:ln/>
        </p:spPr>
        <p:txBody>
          <a:bodyPr wrap="square" lIns="0" tIns="0" rIns="0" bIns="0" rtlCol="0" anchor="ctr"/>
          <a:lstStyle/>
          <a:p>
            <a:pPr indent="0" marL="0">
              <a:buNone/>
            </a:pPr>
            <a:r>
              <a:rPr lang="en-US" sz="1400" b="1" dirty="0">
                <a:solidFill>
                  <a:schemeClr val="tx1"/>
                </a:solidFill>
              </a:rPr>
              <a:t>Config + Secrets</a:t>
            </a:r>
            <a:endParaRPr lang="en-US" sz="1400" dirty="0"/>
          </a:p>
        </p:txBody>
      </p:sp>
      <p:sp>
        <p:nvSpPr>
          <p:cNvPr id="27" name="k8s 5 body"/>
          <p:cNvSpPr txBox="1"/>
          <p:nvPr/>
        </p:nvSpPr>
        <p:spPr>
          <a:xfrm>
            <a:off x="3429000" y="3611880"/>
            <a:ext cx="2240280" cy="594360"/>
          </a:xfrm>
          <a:prstGeom prst="rect">
            <a:avLst/>
          </a:prstGeom>
          <a:noFill/>
          <a:ln/>
        </p:spPr>
        <p:txBody>
          <a:bodyPr wrap="square" lIns="0" tIns="0" rIns="0" bIns="0" rtlCol="0" anchor="t"/>
          <a:lstStyle/>
          <a:p>
            <a:pPr indent="0" marL="0">
              <a:spcAft>
                <a:spcPts val="300"/>
              </a:spcAft>
              <a:buNone/>
            </a:pPr>
            <a:r>
              <a:rPr lang="en-US" sz="1200" dirty="0">
                <a:solidFill>
                  <a:schemeClr val="tx2"/>
                </a:solidFill>
              </a:rPr>
              <a:t>ConfigMap for the DB URL, Secret for credentials, injected as env</a:t>
            </a:r>
            <a:endParaRPr lang="en-US" sz="1200" dirty="0"/>
          </a:p>
        </p:txBody>
      </p:sp>
      <p:sp>
        <p:nvSpPr>
          <p:cNvPr id="28" name="k8s 6 card"/>
          <p:cNvSpPr/>
          <p:nvPr/>
        </p:nvSpPr>
        <p:spPr>
          <a:xfrm>
            <a:off x="6035040" y="2880360"/>
            <a:ext cx="2606040" cy="1463040"/>
          </a:xfrm>
          <a:prstGeom prst="roundRect">
            <a:avLst>
              <a:gd name="adj" fmla="val 5000"/>
            </a:avLst>
          </a:prstGeom>
          <a:solidFill>
            <a:schemeClr val="bg2"/>
          </a:solidFill>
          <a:ln/>
        </p:spPr>
      </p:sp>
      <p:sp>
        <p:nvSpPr>
          <p:cNvPr id="29" name="k8s 6 icon bg"/>
          <p:cNvSpPr/>
          <p:nvPr/>
        </p:nvSpPr>
        <p:spPr>
          <a:xfrm>
            <a:off x="6217920" y="3063240"/>
            <a:ext cx="457200" cy="457200"/>
          </a:xfrm>
          <a:prstGeom prst="ellipse">
            <a:avLst/>
          </a:prstGeom>
          <a:solidFill>
            <a:schemeClr val="bg1"/>
          </a:solidFill>
          <a:ln/>
        </p:spPr>
      </p:sp>
      <p:pic>
        <p:nvPicPr>
          <p:cNvPr id="30" name="k8s 6 icon" descr="preencoded.png">    </p:cNvPr>
          <p:cNvPicPr>
            <a:picLocks noChangeAspect="1"/>
          </p:cNvPicPr>
          <p:nvPr/>
        </p:nvPicPr>
        <p:blipFill>
          <a:blip r:embed="rId6"/>
          <a:stretch>
            <a:fillRect/>
          </a:stretch>
        </p:blipFill>
        <p:spPr>
          <a:xfrm>
            <a:off x="6318504" y="3163824"/>
            <a:ext cx="256032" cy="256032"/>
          </a:xfrm>
          <a:prstGeom prst="rect">
            <a:avLst/>
          </a:prstGeom>
        </p:spPr>
      </p:pic>
      <p:sp>
        <p:nvSpPr>
          <p:cNvPr id="31" name="k8s 6 title"/>
          <p:cNvSpPr txBox="1"/>
          <p:nvPr/>
        </p:nvSpPr>
        <p:spPr>
          <a:xfrm>
            <a:off x="6812280" y="3063240"/>
            <a:ext cx="1691640" cy="457200"/>
          </a:xfrm>
          <a:prstGeom prst="rect">
            <a:avLst/>
          </a:prstGeom>
          <a:noFill/>
          <a:ln/>
        </p:spPr>
        <p:txBody>
          <a:bodyPr wrap="square" lIns="0" tIns="0" rIns="0" bIns="0" rtlCol="0" anchor="ctr"/>
          <a:lstStyle/>
          <a:p>
            <a:pPr indent="0" marL="0">
              <a:buNone/>
            </a:pPr>
            <a:r>
              <a:rPr lang="en-US" sz="1400" b="1" dirty="0">
                <a:solidFill>
                  <a:schemeClr val="tx1"/>
                </a:solidFill>
              </a:rPr>
              <a:t>Storage</a:t>
            </a:r>
            <a:endParaRPr lang="en-US" sz="1400" dirty="0"/>
          </a:p>
        </p:txBody>
      </p:sp>
      <p:sp>
        <p:nvSpPr>
          <p:cNvPr id="32" name="k8s 6 body"/>
          <p:cNvSpPr txBox="1"/>
          <p:nvPr/>
        </p:nvSpPr>
        <p:spPr>
          <a:xfrm>
            <a:off x="6217920" y="3611880"/>
            <a:ext cx="2240280" cy="594360"/>
          </a:xfrm>
          <a:prstGeom prst="rect">
            <a:avLst/>
          </a:prstGeom>
          <a:noFill/>
          <a:ln/>
        </p:spPr>
        <p:txBody>
          <a:bodyPr wrap="square" lIns="0" tIns="0" rIns="0" bIns="0" rtlCol="0" anchor="t"/>
          <a:lstStyle/>
          <a:p>
            <a:pPr indent="0" marL="0">
              <a:spcAft>
                <a:spcPts val="300"/>
              </a:spcAft>
              <a:buNone/>
            </a:pPr>
            <a:r>
              <a:rPr lang="en-US" sz="1200" dirty="0">
                <a:solidFill>
                  <a:schemeClr val="tx2"/>
                </a:solidFill>
              </a:rPr>
              <a:t>1Gi PersistentVolumeClaim keeps Postgres data across restarts</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AWS infrastructure with Terraform</a:t>
            </a:r>
            <a:endParaRPr lang="en-US" sz="3000" dirty="0"/>
          </a:p>
        </p:txBody>
      </p:sp>
      <p:sp>
        <p:nvSpPr>
          <p:cNvPr id="3" name="vpc boundary"/>
          <p:cNvSpPr/>
          <p:nvPr/>
        </p:nvSpPr>
        <p:spPr>
          <a:xfrm>
            <a:off x="457200" y="1143000"/>
            <a:ext cx="5760720" cy="3429000"/>
          </a:xfrm>
          <a:prstGeom prst="roundRect">
            <a:avLst>
              <a:gd name="adj" fmla="val 2133"/>
            </a:avLst>
          </a:prstGeom>
          <a:solidFill>
            <a:schemeClr val="bg1"/>
          </a:solidFill>
          <a:ln w="12700">
            <a:solidFill>
              <a:schemeClr val="accent4"/>
            </a:solidFill>
            <a:prstDash val="dash"/>
          </a:ln>
        </p:spPr>
      </p:sp>
      <p:pic>
        <p:nvPicPr>
          <p:cNvPr id="4" name="aws icon" descr="preencoded.png">    </p:cNvPr>
          <p:cNvPicPr>
            <a:picLocks noChangeAspect="1"/>
          </p:cNvPicPr>
          <p:nvPr/>
        </p:nvPicPr>
        <p:blipFill>
          <a:blip r:embed="rId1"/>
          <a:stretch>
            <a:fillRect/>
          </a:stretch>
        </p:blipFill>
        <p:spPr>
          <a:xfrm>
            <a:off x="640080" y="1234440"/>
            <a:ext cx="365760" cy="365760"/>
          </a:xfrm>
          <a:prstGeom prst="rect">
            <a:avLst/>
          </a:prstGeom>
        </p:spPr>
      </p:pic>
      <p:sp>
        <p:nvSpPr>
          <p:cNvPr id="5" name="vpc label"/>
          <p:cNvSpPr txBox="1"/>
          <p:nvPr/>
        </p:nvSpPr>
        <p:spPr>
          <a:xfrm>
            <a:off x="1097280" y="1234440"/>
            <a:ext cx="3657600" cy="365760"/>
          </a:xfrm>
          <a:prstGeom prst="rect">
            <a:avLst/>
          </a:prstGeom>
          <a:noFill/>
          <a:ln/>
        </p:spPr>
        <p:txBody>
          <a:bodyPr wrap="square" lIns="0" tIns="0" rIns="0" bIns="0" rtlCol="0" anchor="ctr"/>
          <a:lstStyle/>
          <a:p>
            <a:pPr indent="0" marL="0">
              <a:buNone/>
            </a:pPr>
            <a:r>
              <a:rPr lang="en-US" sz="1200" b="1" dirty="0">
                <a:solidFill>
                  <a:schemeClr val="tx1"/>
                </a:solidFill>
              </a:rPr>
              <a:t>VPC 10.0.0.0/16  |  ap-south-1</a:t>
            </a:r>
            <a:endParaRPr lang="en-US" sz="1200" dirty="0"/>
          </a:p>
        </p:txBody>
      </p:sp>
      <p:sp>
        <p:nvSpPr>
          <p:cNvPr id="6" name="az 1 label"/>
          <p:cNvSpPr txBox="1"/>
          <p:nvPr/>
        </p:nvSpPr>
        <p:spPr>
          <a:xfrm>
            <a:off x="640080" y="1691640"/>
            <a:ext cx="2560320" cy="228600"/>
          </a:xfrm>
          <a:prstGeom prst="rect">
            <a:avLst/>
          </a:prstGeom>
          <a:noFill/>
          <a:ln/>
        </p:spPr>
        <p:txBody>
          <a:bodyPr wrap="square" lIns="0" tIns="0" rIns="0" bIns="0" rtlCol="0" anchor="ctr"/>
          <a:lstStyle/>
          <a:p>
            <a:pPr indent="0" marL="0">
              <a:buNone/>
            </a:pPr>
            <a:r>
              <a:rPr lang="en-US" sz="1000" b="1" spc="200" kern="0" dirty="0">
                <a:solidFill>
                  <a:schemeClr val="accent4"/>
                </a:solidFill>
              </a:rPr>
              <a:t>AZ a</a:t>
            </a:r>
            <a:endParaRPr lang="en-US" sz="1000" dirty="0"/>
          </a:p>
        </p:txBody>
      </p:sp>
      <p:sp>
        <p:nvSpPr>
          <p:cNvPr id="7" name="public 1 box"/>
          <p:cNvSpPr/>
          <p:nvPr/>
        </p:nvSpPr>
        <p:spPr>
          <a:xfrm>
            <a:off x="640080" y="1965960"/>
            <a:ext cx="2560320" cy="731520"/>
          </a:xfrm>
          <a:prstGeom prst="roundRect">
            <a:avLst>
              <a:gd name="adj" fmla="val 10000"/>
            </a:avLst>
          </a:prstGeom>
          <a:solidFill>
            <a:schemeClr val="bg2"/>
          </a:solidFill>
          <a:ln/>
        </p:spPr>
      </p:sp>
      <p:sp>
        <p:nvSpPr>
          <p:cNvPr id="8" name="public 1 label"/>
          <p:cNvSpPr txBox="1"/>
          <p:nvPr/>
        </p:nvSpPr>
        <p:spPr>
          <a:xfrm>
            <a:off x="731520" y="1965960"/>
            <a:ext cx="2395728" cy="731520"/>
          </a:xfrm>
          <a:prstGeom prst="rect">
            <a:avLst/>
          </a:prstGeom>
          <a:noFill/>
          <a:ln/>
        </p:spPr>
        <p:txBody>
          <a:bodyPr wrap="square" lIns="0" tIns="0" rIns="0" bIns="0" rtlCol="0" anchor="ctr"/>
          <a:lstStyle/>
          <a:p>
            <a:pPr indent="0" marL="0">
              <a:buNone/>
            </a:pPr>
            <a:r>
              <a:rPr lang="en-US" sz="1200" b="1" dirty="0">
                <a:solidFill>
                  <a:schemeClr val="tx1"/>
                </a:solidFill>
              </a:rPr>
              <a:t>Public subnet</a:t>
            </a:r>
            <a:endParaRPr lang="en-US" sz="1200" dirty="0"/>
          </a:p>
          <a:p>
            <a:pPr indent="0" marL="0">
              <a:buNone/>
            </a:pPr>
            <a:r>
              <a:rPr lang="en-US" sz="1000" dirty="0">
                <a:solidFill>
                  <a:schemeClr val="tx2"/>
                </a:solidFill>
              </a:rPr>
              <a:t>Internet GW route, NAT gateway</a:t>
            </a:r>
            <a:endParaRPr lang="en-US" sz="1200" dirty="0"/>
          </a:p>
        </p:txBody>
      </p:sp>
      <p:sp>
        <p:nvSpPr>
          <p:cNvPr id="9" name="private 1 box"/>
          <p:cNvSpPr/>
          <p:nvPr/>
        </p:nvSpPr>
        <p:spPr>
          <a:xfrm>
            <a:off x="640080" y="2880360"/>
            <a:ext cx="2560320" cy="1463040"/>
          </a:xfrm>
          <a:prstGeom prst="roundRect">
            <a:avLst>
              <a:gd name="adj" fmla="val 5000"/>
            </a:avLst>
          </a:prstGeom>
          <a:solidFill>
            <a:schemeClr val="accent6"/>
          </a:solidFill>
          <a:ln/>
        </p:spPr>
      </p:sp>
      <p:sp>
        <p:nvSpPr>
          <p:cNvPr id="10" name="private 1 label"/>
          <p:cNvSpPr txBox="1"/>
          <p:nvPr/>
        </p:nvSpPr>
        <p:spPr>
          <a:xfrm>
            <a:off x="731520" y="2880360"/>
            <a:ext cx="2395728" cy="1463040"/>
          </a:xfrm>
          <a:prstGeom prst="rect">
            <a:avLst/>
          </a:prstGeom>
          <a:noFill/>
          <a:ln/>
        </p:spPr>
        <p:txBody>
          <a:bodyPr wrap="square" lIns="0" tIns="0" rIns="0" bIns="0" rtlCol="0" anchor="ctr"/>
          <a:lstStyle/>
          <a:p>
            <a:pPr indent="0" marL="0">
              <a:buNone/>
            </a:pPr>
            <a:r>
              <a:rPr lang="en-US" sz="1200" b="1" dirty="0">
                <a:solidFill>
                  <a:schemeClr val="tx1"/>
                </a:solidFill>
              </a:rPr>
              <a:t>Private subnet</a:t>
            </a:r>
            <a:endParaRPr lang="en-US" sz="1200" dirty="0"/>
          </a:p>
          <a:p>
            <a:pPr indent="0" marL="0">
              <a:buNone/>
            </a:pPr>
            <a:r>
              <a:rPr lang="en-US" sz="1000" dirty="0">
                <a:solidFill>
                  <a:schemeClr val="tx2"/>
                </a:solidFill>
              </a:rPr>
              <a:t>EKS worker node (t3.medium)</a:t>
            </a:r>
            <a:endParaRPr lang="en-US" sz="1200" dirty="0"/>
          </a:p>
          <a:p>
            <a:pPr indent="0" marL="0">
              <a:buNone/>
            </a:pPr>
            <a:r>
              <a:rPr lang="en-US" sz="1000" dirty="0">
                <a:solidFill>
                  <a:schemeClr val="tx2"/>
                </a:solidFill>
              </a:rPr>
              <a:t>RDS PostgreSQL 17</a:t>
            </a:r>
            <a:endParaRPr lang="en-US" sz="1200" dirty="0"/>
          </a:p>
        </p:txBody>
      </p:sp>
      <p:sp>
        <p:nvSpPr>
          <p:cNvPr id="11" name="az 2 label"/>
          <p:cNvSpPr txBox="1"/>
          <p:nvPr/>
        </p:nvSpPr>
        <p:spPr>
          <a:xfrm>
            <a:off x="3383280" y="1691640"/>
            <a:ext cx="2560320" cy="228600"/>
          </a:xfrm>
          <a:prstGeom prst="rect">
            <a:avLst/>
          </a:prstGeom>
          <a:noFill/>
          <a:ln/>
        </p:spPr>
        <p:txBody>
          <a:bodyPr wrap="square" lIns="0" tIns="0" rIns="0" bIns="0" rtlCol="0" anchor="ctr"/>
          <a:lstStyle/>
          <a:p>
            <a:pPr indent="0" marL="0">
              <a:buNone/>
            </a:pPr>
            <a:r>
              <a:rPr lang="en-US" sz="1000" b="1" spc="200" kern="0" dirty="0">
                <a:solidFill>
                  <a:schemeClr val="accent4"/>
                </a:solidFill>
              </a:rPr>
              <a:t>AZ b</a:t>
            </a:r>
            <a:endParaRPr lang="en-US" sz="1000" dirty="0"/>
          </a:p>
        </p:txBody>
      </p:sp>
      <p:sp>
        <p:nvSpPr>
          <p:cNvPr id="12" name="public 2 box"/>
          <p:cNvSpPr/>
          <p:nvPr/>
        </p:nvSpPr>
        <p:spPr>
          <a:xfrm>
            <a:off x="3383280" y="1965960"/>
            <a:ext cx="2560320" cy="731520"/>
          </a:xfrm>
          <a:prstGeom prst="roundRect">
            <a:avLst>
              <a:gd name="adj" fmla="val 10000"/>
            </a:avLst>
          </a:prstGeom>
          <a:solidFill>
            <a:schemeClr val="bg2"/>
          </a:solidFill>
          <a:ln/>
        </p:spPr>
      </p:sp>
      <p:sp>
        <p:nvSpPr>
          <p:cNvPr id="13" name="public 2 label"/>
          <p:cNvSpPr txBox="1"/>
          <p:nvPr/>
        </p:nvSpPr>
        <p:spPr>
          <a:xfrm>
            <a:off x="3474720" y="1965960"/>
            <a:ext cx="2395728" cy="731520"/>
          </a:xfrm>
          <a:prstGeom prst="rect">
            <a:avLst/>
          </a:prstGeom>
          <a:noFill/>
          <a:ln/>
        </p:spPr>
        <p:txBody>
          <a:bodyPr wrap="square" lIns="0" tIns="0" rIns="0" bIns="0" rtlCol="0" anchor="ctr"/>
          <a:lstStyle/>
          <a:p>
            <a:pPr indent="0" marL="0">
              <a:buNone/>
            </a:pPr>
            <a:r>
              <a:rPr lang="en-US" sz="1200" b="1" dirty="0">
                <a:solidFill>
                  <a:schemeClr val="tx1"/>
                </a:solidFill>
              </a:rPr>
              <a:t>Public subnet</a:t>
            </a:r>
            <a:endParaRPr lang="en-US" sz="1200" dirty="0"/>
          </a:p>
          <a:p>
            <a:pPr indent="0" marL="0">
              <a:buNone/>
            </a:pPr>
            <a:r>
              <a:rPr lang="en-US" sz="1000" dirty="0">
                <a:solidFill>
                  <a:schemeClr val="tx2"/>
                </a:solidFill>
              </a:rPr>
              <a:t>Internet GW route, load balancers</a:t>
            </a:r>
            <a:endParaRPr lang="en-US" sz="1200" dirty="0"/>
          </a:p>
        </p:txBody>
      </p:sp>
      <p:sp>
        <p:nvSpPr>
          <p:cNvPr id="14" name="private 2 box"/>
          <p:cNvSpPr/>
          <p:nvPr/>
        </p:nvSpPr>
        <p:spPr>
          <a:xfrm>
            <a:off x="3383280" y="2880360"/>
            <a:ext cx="2560320" cy="1463040"/>
          </a:xfrm>
          <a:prstGeom prst="roundRect">
            <a:avLst>
              <a:gd name="adj" fmla="val 5000"/>
            </a:avLst>
          </a:prstGeom>
          <a:solidFill>
            <a:schemeClr val="accent6"/>
          </a:solidFill>
          <a:ln/>
        </p:spPr>
      </p:sp>
      <p:sp>
        <p:nvSpPr>
          <p:cNvPr id="15" name="private 2 label"/>
          <p:cNvSpPr txBox="1"/>
          <p:nvPr/>
        </p:nvSpPr>
        <p:spPr>
          <a:xfrm>
            <a:off x="3474720" y="2880360"/>
            <a:ext cx="2395728" cy="1463040"/>
          </a:xfrm>
          <a:prstGeom prst="rect">
            <a:avLst/>
          </a:prstGeom>
          <a:noFill/>
          <a:ln/>
        </p:spPr>
        <p:txBody>
          <a:bodyPr wrap="square" lIns="0" tIns="0" rIns="0" bIns="0" rtlCol="0" anchor="ctr"/>
          <a:lstStyle/>
          <a:p>
            <a:pPr indent="0" marL="0">
              <a:buNone/>
            </a:pPr>
            <a:r>
              <a:rPr lang="en-US" sz="1200" b="1" dirty="0">
                <a:solidFill>
                  <a:schemeClr val="tx1"/>
                </a:solidFill>
              </a:rPr>
              <a:t>Private subnet</a:t>
            </a:r>
            <a:endParaRPr lang="en-US" sz="1200" dirty="0"/>
          </a:p>
          <a:p>
            <a:pPr indent="0" marL="0">
              <a:buNone/>
            </a:pPr>
            <a:r>
              <a:rPr lang="en-US" sz="1000" dirty="0">
                <a:solidFill>
                  <a:schemeClr val="tx2"/>
                </a:solidFill>
              </a:rPr>
              <a:t>EKS worker node (t3.medium)</a:t>
            </a:r>
            <a:endParaRPr lang="en-US" sz="1200" dirty="0"/>
          </a:p>
          <a:p>
            <a:pPr indent="0" marL="0">
              <a:buNone/>
            </a:pPr>
            <a:r>
              <a:rPr lang="en-US" sz="1000" dirty="0">
                <a:solidFill>
                  <a:schemeClr val="tx2"/>
                </a:solidFill>
              </a:rPr>
              <a:t>RDS subnet group</a:t>
            </a:r>
            <a:endParaRPr lang="en-US" sz="1200" dirty="0"/>
          </a:p>
        </p:txBody>
      </p:sp>
      <p:sp>
        <p:nvSpPr>
          <p:cNvPr id="16" name="tf workflow card"/>
          <p:cNvSpPr/>
          <p:nvPr/>
        </p:nvSpPr>
        <p:spPr>
          <a:xfrm>
            <a:off x="6492240" y="1143000"/>
            <a:ext cx="2194560" cy="3429000"/>
          </a:xfrm>
          <a:prstGeom prst="roundRect">
            <a:avLst>
              <a:gd name="adj" fmla="val 3333"/>
            </a:avLst>
          </a:prstGeom>
          <a:solidFill>
            <a:schemeClr val="bg2"/>
          </a:solidFill>
          <a:ln/>
        </p:spPr>
      </p:sp>
      <p:sp>
        <p:nvSpPr>
          <p:cNvPr id="17" name="tf workflow icon bg"/>
          <p:cNvSpPr/>
          <p:nvPr/>
        </p:nvSpPr>
        <p:spPr>
          <a:xfrm>
            <a:off x="6675120" y="1325880"/>
            <a:ext cx="457200" cy="457200"/>
          </a:xfrm>
          <a:prstGeom prst="ellipse">
            <a:avLst/>
          </a:prstGeom>
          <a:solidFill>
            <a:schemeClr val="bg1"/>
          </a:solidFill>
          <a:ln/>
        </p:spPr>
      </p:sp>
      <p:pic>
        <p:nvPicPr>
          <p:cNvPr id="18" name="tf workflow icon" descr="preencoded.png">    </p:cNvPr>
          <p:cNvPicPr>
            <a:picLocks noChangeAspect="1"/>
          </p:cNvPicPr>
          <p:nvPr/>
        </p:nvPicPr>
        <p:blipFill>
          <a:blip r:embed="rId2"/>
          <a:stretch>
            <a:fillRect/>
          </a:stretch>
        </p:blipFill>
        <p:spPr>
          <a:xfrm>
            <a:off x="6775704" y="1426464"/>
            <a:ext cx="256032" cy="256032"/>
          </a:xfrm>
          <a:prstGeom prst="rect">
            <a:avLst/>
          </a:prstGeom>
        </p:spPr>
      </p:pic>
      <p:sp>
        <p:nvSpPr>
          <p:cNvPr id="19" name="tf workflow title"/>
          <p:cNvSpPr txBox="1"/>
          <p:nvPr/>
        </p:nvSpPr>
        <p:spPr>
          <a:xfrm>
            <a:off x="7269480" y="1325880"/>
            <a:ext cx="1280160" cy="457200"/>
          </a:xfrm>
          <a:prstGeom prst="rect">
            <a:avLst/>
          </a:prstGeom>
          <a:noFill/>
          <a:ln/>
        </p:spPr>
        <p:txBody>
          <a:bodyPr wrap="square" lIns="0" tIns="0" rIns="0" bIns="0" rtlCol="0" anchor="ctr"/>
          <a:lstStyle/>
          <a:p>
            <a:pPr indent="0" marL="0">
              <a:buNone/>
            </a:pPr>
            <a:r>
              <a:rPr lang="en-US" sz="1500" b="1" dirty="0">
                <a:solidFill>
                  <a:schemeClr val="tx1"/>
                </a:solidFill>
              </a:rPr>
              <a:t>Workflow</a:t>
            </a:r>
            <a:endParaRPr lang="en-US" sz="1500" dirty="0"/>
          </a:p>
        </p:txBody>
      </p:sp>
      <p:sp>
        <p:nvSpPr>
          <p:cNvPr id="20" name="tf workflow body"/>
          <p:cNvSpPr txBox="1"/>
          <p:nvPr/>
        </p:nvSpPr>
        <p:spPr>
          <a:xfrm>
            <a:off x="6675120" y="1874520"/>
            <a:ext cx="1828800" cy="25603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terraform init</a:t>
            </a:r>
            <a:endParaRPr lang="en-US" sz="1200" dirty="0"/>
          </a:p>
          <a:p>
            <a:pPr marL="342900" indent="-342900">
              <a:spcAft>
                <a:spcPts val="300"/>
              </a:spcAft>
              <a:buSzPct val="100000"/>
              <a:buChar char="•"/>
            </a:pPr>
            <a:r>
              <a:rPr lang="en-US" sz="1200" dirty="0">
                <a:solidFill>
                  <a:schemeClr val="tx2"/>
                </a:solidFill>
              </a:rPr>
              <a:t>terraform plan</a:t>
            </a:r>
            <a:endParaRPr lang="en-US" sz="1200" dirty="0"/>
          </a:p>
          <a:p>
            <a:pPr marL="342900" indent="-342900">
              <a:spcAft>
                <a:spcPts val="300"/>
              </a:spcAft>
              <a:buSzPct val="100000"/>
              <a:buChar char="•"/>
            </a:pPr>
            <a:r>
              <a:rPr lang="en-US" sz="1200" dirty="0">
                <a:solidFill>
                  <a:schemeClr val="tx2"/>
                </a:solidFill>
              </a:rPr>
              <a:t>terraform apply</a:t>
            </a:r>
            <a:endParaRPr lang="en-US" sz="1200" dirty="0"/>
          </a:p>
          <a:p>
            <a:pPr marL="342900" indent="-342900">
              <a:spcAft>
                <a:spcPts val="300"/>
              </a:spcAft>
              <a:buSzPct val="100000"/>
              <a:buChar char="•"/>
            </a:pPr>
            <a:r>
              <a:rPr lang="en-US" sz="1200" dirty="0">
                <a:solidFill>
                  <a:schemeClr val="tx2"/>
                </a:solidFill>
              </a:rPr>
              <a:t>update-kubeconfig</a:t>
            </a:r>
            <a:endParaRPr lang="en-US" sz="1200" dirty="0"/>
          </a:p>
          <a:p>
            <a:pPr marL="342900" indent="-342900">
              <a:spcAft>
                <a:spcPts val="300"/>
              </a:spcAft>
              <a:buSzPct val="100000"/>
              <a:buChar char="•"/>
            </a:pPr>
            <a:r>
              <a:rPr lang="en-US" sz="1200" dirty="0">
                <a:solidFill>
                  <a:schemeClr val="tx2"/>
                </a:solidFill>
              </a:rPr>
              <a:t>terraform destroy</a:t>
            </a:r>
            <a:endParaRPr lang="en-US" sz="1200" dirty="0"/>
          </a:p>
          <a:p>
            <a:pPr indent="0" marL="0">
              <a:spcAft>
                <a:spcPts val="300"/>
              </a:spcAft>
              <a:buNone/>
            </a:pPr>
            <a:r>
              <a:rPr lang="en-US" sz="1200" dirty="0">
                <a:solidFill>
                  <a:schemeClr val="tx2"/>
                </a:solidFill>
              </a:rPr>
              <a:t> </a:t>
            </a:r>
            <a:endParaRPr lang="en-US" sz="1200" dirty="0"/>
          </a:p>
          <a:p>
            <a:pPr indent="0" marL="0">
              <a:spcAft>
                <a:spcPts val="300"/>
              </a:spcAft>
              <a:buNone/>
            </a:pPr>
            <a:r>
              <a:rPr lang="en-US" sz="1200" dirty="0">
                <a:solidFill>
                  <a:schemeClr val="tx2"/>
                </a:solidFill>
              </a:rPr>
              <a:t>EKS control plane managed by AWS; nodes only in private subnets.</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Observability</a:t>
            </a:r>
            <a:endParaRPr lang="en-US" sz="3000" dirty="0"/>
          </a:p>
        </p:txBody>
      </p:sp>
      <p:sp>
        <p:nvSpPr>
          <p:cNvPr id="3" name="targets card"/>
          <p:cNvSpPr/>
          <p:nvPr/>
        </p:nvSpPr>
        <p:spPr>
          <a:xfrm>
            <a:off x="457200" y="1188720"/>
            <a:ext cx="2606040" cy="2834640"/>
          </a:xfrm>
          <a:prstGeom prst="roundRect">
            <a:avLst>
              <a:gd name="adj" fmla="val 2807"/>
            </a:avLst>
          </a:prstGeom>
          <a:solidFill>
            <a:schemeClr val="bg2"/>
          </a:solidFill>
          <a:ln/>
        </p:spPr>
      </p:sp>
      <p:sp>
        <p:nvSpPr>
          <p:cNvPr id="4" name="targets icon bg"/>
          <p:cNvSpPr/>
          <p:nvPr/>
        </p:nvSpPr>
        <p:spPr>
          <a:xfrm>
            <a:off x="640080" y="1371600"/>
            <a:ext cx="457200" cy="457200"/>
          </a:xfrm>
          <a:prstGeom prst="ellipse">
            <a:avLst/>
          </a:prstGeom>
          <a:solidFill>
            <a:schemeClr val="bg1"/>
          </a:solidFill>
          <a:ln/>
        </p:spPr>
      </p:sp>
      <p:pic>
        <p:nvPicPr>
          <p:cNvPr id="5" name="targets icon" descr="preencoded.png">    </p:cNvPr>
          <p:cNvPicPr>
            <a:picLocks noChangeAspect="1"/>
          </p:cNvPicPr>
          <p:nvPr/>
        </p:nvPicPr>
        <p:blipFill>
          <a:blip r:embed="rId1"/>
          <a:stretch>
            <a:fillRect/>
          </a:stretch>
        </p:blipFill>
        <p:spPr>
          <a:xfrm>
            <a:off x="740664" y="1472184"/>
            <a:ext cx="256032" cy="256032"/>
          </a:xfrm>
          <a:prstGeom prst="rect">
            <a:avLst/>
          </a:prstGeom>
        </p:spPr>
      </p:pic>
      <p:sp>
        <p:nvSpPr>
          <p:cNvPr id="6" name="targets title"/>
          <p:cNvSpPr txBox="1"/>
          <p:nvPr/>
        </p:nvSpPr>
        <p:spPr>
          <a:xfrm>
            <a:off x="1234440" y="1371600"/>
            <a:ext cx="1691640" cy="457200"/>
          </a:xfrm>
          <a:prstGeom prst="rect">
            <a:avLst/>
          </a:prstGeom>
          <a:noFill/>
          <a:ln/>
        </p:spPr>
        <p:txBody>
          <a:bodyPr wrap="square" lIns="0" tIns="0" rIns="0" bIns="0" rtlCol="0" anchor="ctr"/>
          <a:lstStyle/>
          <a:p>
            <a:pPr indent="0" marL="0">
              <a:buNone/>
            </a:pPr>
            <a:r>
              <a:rPr lang="en-US" sz="1500" b="1" dirty="0">
                <a:solidFill>
                  <a:schemeClr val="tx1"/>
                </a:solidFill>
              </a:rPr>
              <a:t>Prometheus targets</a:t>
            </a:r>
            <a:endParaRPr lang="en-US" sz="1500" dirty="0"/>
          </a:p>
        </p:txBody>
      </p:sp>
      <p:sp>
        <p:nvSpPr>
          <p:cNvPr id="7" name="targets body"/>
          <p:cNvSpPr txBox="1"/>
          <p:nvPr/>
        </p:nvSpPr>
        <p:spPr>
          <a:xfrm>
            <a:off x="640080" y="1920240"/>
            <a:ext cx="2240280" cy="1965960"/>
          </a:xfrm>
          <a:prstGeom prst="rect">
            <a:avLst/>
          </a:prstGeom>
          <a:noFill/>
          <a:ln/>
        </p:spPr>
        <p:txBody>
          <a:bodyPr wrap="square" lIns="0" tIns="0" rIns="0" bIns="0" rtlCol="0" anchor="t"/>
          <a:lstStyle/>
          <a:p>
            <a:pPr indent="0" marL="0">
              <a:spcAft>
                <a:spcPts val="300"/>
              </a:spcAft>
              <a:buNone/>
            </a:pPr>
            <a:r>
              <a:rPr lang="en-US" sz="1300" dirty="0">
                <a:solidFill>
                  <a:schemeClr val="tx2"/>
                </a:solidFill>
              </a:rPr>
              <a:t>order-service  </a:t>
            </a:r>
            <a:pPr indent="0" marL="0">
              <a:spcAft>
                <a:spcPts val="300"/>
              </a:spcAft>
              <a:buNone/>
            </a:pPr>
            <a:r>
              <a:rPr lang="en-US" sz="1300" b="1" dirty="0">
                <a:solidFill>
                  <a:schemeClr val="accent1"/>
                </a:solidFill>
              </a:rPr>
              <a:t>UP</a:t>
            </a:r>
            <a:endParaRPr lang="en-US" sz="1300" dirty="0"/>
          </a:p>
          <a:p>
            <a:pPr indent="0" marL="0">
              <a:spcAft>
                <a:spcPts val="300"/>
              </a:spcAft>
              <a:buNone/>
            </a:pPr>
            <a:r>
              <a:rPr lang="en-US" sz="1300" dirty="0">
                <a:solidFill>
                  <a:schemeClr val="tx2"/>
                </a:solidFill>
              </a:rPr>
              <a:t>inventory-service  </a:t>
            </a:r>
            <a:pPr indent="0" marL="0">
              <a:spcAft>
                <a:spcPts val="300"/>
              </a:spcAft>
              <a:buNone/>
            </a:pPr>
            <a:r>
              <a:rPr lang="en-US" sz="1300" b="1" dirty="0">
                <a:solidFill>
                  <a:schemeClr val="accent1"/>
                </a:solidFill>
              </a:rPr>
              <a:t>UP</a:t>
            </a:r>
            <a:endParaRPr lang="en-US" sz="1300" dirty="0"/>
          </a:p>
          <a:p>
            <a:pPr indent="0" marL="0">
              <a:spcAft>
                <a:spcPts val="300"/>
              </a:spcAft>
              <a:buNone/>
            </a:pPr>
            <a:r>
              <a:rPr lang="en-US" sz="1300" dirty="0">
                <a:solidFill>
                  <a:schemeClr val="tx2"/>
                </a:solidFill>
              </a:rPr>
              <a:t>prometheus  </a:t>
            </a:r>
            <a:pPr indent="0" marL="0">
              <a:spcAft>
                <a:spcPts val="300"/>
              </a:spcAft>
              <a:buNone/>
            </a:pPr>
            <a:r>
              <a:rPr lang="en-US" sz="1300" b="1" dirty="0">
                <a:solidFill>
                  <a:schemeClr val="accent1"/>
                </a:solidFill>
              </a:rPr>
              <a:t>UP</a:t>
            </a:r>
            <a:endParaRPr lang="en-US" sz="1300" dirty="0"/>
          </a:p>
          <a:p>
            <a:pPr indent="0" marL="0">
              <a:spcAft>
                <a:spcPts val="300"/>
              </a:spcAft>
              <a:buNone/>
            </a:pPr>
            <a:r>
              <a:rPr lang="en-US" sz="1300" dirty="0">
                <a:solidFill>
                  <a:schemeClr val="tx2"/>
                </a:solidFill>
              </a:rPr>
              <a:t> </a:t>
            </a:r>
            <a:endParaRPr lang="en-US" sz="1300" dirty="0"/>
          </a:p>
          <a:p>
            <a:pPr indent="0" marL="0">
              <a:spcAft>
                <a:spcPts val="300"/>
              </a:spcAft>
              <a:buNone/>
            </a:pPr>
            <a:r>
              <a:rPr lang="en-US" sz="1300" dirty="0">
                <a:solidFill>
                  <a:schemeClr val="tx2"/>
                </a:solidFill>
              </a:rPr>
              <a:t>Scrapes /actuator/prometheus every 5 seconds</a:t>
            </a:r>
            <a:endParaRPr lang="en-US" sz="1300" dirty="0"/>
          </a:p>
        </p:txBody>
      </p:sp>
      <p:sp>
        <p:nvSpPr>
          <p:cNvPr id="8" name="alerts card"/>
          <p:cNvSpPr/>
          <p:nvPr/>
        </p:nvSpPr>
        <p:spPr>
          <a:xfrm>
            <a:off x="3268980" y="1188720"/>
            <a:ext cx="2606040" cy="2834640"/>
          </a:xfrm>
          <a:prstGeom prst="roundRect">
            <a:avLst>
              <a:gd name="adj" fmla="val 2807"/>
            </a:avLst>
          </a:prstGeom>
          <a:solidFill>
            <a:schemeClr val="bg2"/>
          </a:solidFill>
          <a:ln/>
        </p:spPr>
      </p:sp>
      <p:sp>
        <p:nvSpPr>
          <p:cNvPr id="9" name="alerts icon bg"/>
          <p:cNvSpPr/>
          <p:nvPr/>
        </p:nvSpPr>
        <p:spPr>
          <a:xfrm>
            <a:off x="3451860" y="1371600"/>
            <a:ext cx="457200" cy="457200"/>
          </a:xfrm>
          <a:prstGeom prst="ellipse">
            <a:avLst/>
          </a:prstGeom>
          <a:solidFill>
            <a:schemeClr val="bg1"/>
          </a:solidFill>
          <a:ln/>
        </p:spPr>
      </p:sp>
      <p:pic>
        <p:nvPicPr>
          <p:cNvPr id="10" name="alerts icon" descr="preencoded.png">    </p:cNvPr>
          <p:cNvPicPr>
            <a:picLocks noChangeAspect="1"/>
          </p:cNvPicPr>
          <p:nvPr/>
        </p:nvPicPr>
        <p:blipFill>
          <a:blip r:embed="rId2"/>
          <a:stretch>
            <a:fillRect/>
          </a:stretch>
        </p:blipFill>
        <p:spPr>
          <a:xfrm>
            <a:off x="3552444" y="1472184"/>
            <a:ext cx="256032" cy="256032"/>
          </a:xfrm>
          <a:prstGeom prst="rect">
            <a:avLst/>
          </a:prstGeom>
        </p:spPr>
      </p:pic>
      <p:sp>
        <p:nvSpPr>
          <p:cNvPr id="11" name="alerts title"/>
          <p:cNvSpPr txBox="1"/>
          <p:nvPr/>
        </p:nvSpPr>
        <p:spPr>
          <a:xfrm>
            <a:off x="4046220" y="1371600"/>
            <a:ext cx="1691640" cy="457200"/>
          </a:xfrm>
          <a:prstGeom prst="rect">
            <a:avLst/>
          </a:prstGeom>
          <a:noFill/>
          <a:ln/>
        </p:spPr>
        <p:txBody>
          <a:bodyPr wrap="square" lIns="0" tIns="0" rIns="0" bIns="0" rtlCol="0" anchor="ctr"/>
          <a:lstStyle/>
          <a:p>
            <a:pPr indent="0" marL="0">
              <a:buNone/>
            </a:pPr>
            <a:r>
              <a:rPr lang="en-US" sz="1500" b="1" dirty="0">
                <a:solidFill>
                  <a:schemeClr val="tx1"/>
                </a:solidFill>
              </a:rPr>
              <a:t>Alert rules</a:t>
            </a:r>
            <a:endParaRPr lang="en-US" sz="1500" dirty="0"/>
          </a:p>
        </p:txBody>
      </p:sp>
      <p:sp>
        <p:nvSpPr>
          <p:cNvPr id="12" name="alerts body"/>
          <p:cNvSpPr txBox="1"/>
          <p:nvPr/>
        </p:nvSpPr>
        <p:spPr>
          <a:xfrm>
            <a:off x="3451860" y="1920240"/>
            <a:ext cx="2240280" cy="1965960"/>
          </a:xfrm>
          <a:prstGeom prst="rect">
            <a:avLst/>
          </a:prstGeom>
          <a:noFill/>
          <a:ln/>
        </p:spPr>
        <p:txBody>
          <a:bodyPr wrap="square" lIns="0" tIns="0" rIns="0" bIns="0" rtlCol="0" anchor="t"/>
          <a:lstStyle/>
          <a:p>
            <a:pPr indent="0" marL="0">
              <a:spcAft>
                <a:spcPts val="300"/>
              </a:spcAft>
              <a:buNone/>
            </a:pPr>
            <a:r>
              <a:rPr lang="en-US" sz="1300" b="1" dirty="0">
                <a:solidFill>
                  <a:schemeClr val="tx2"/>
                </a:solidFill>
              </a:rPr>
              <a:t>OrderServiceDown</a:t>
            </a:r>
            <a:endParaRPr lang="en-US" sz="1300" dirty="0"/>
          </a:p>
          <a:p>
            <a:pPr indent="0" marL="0">
              <a:spcAft>
                <a:spcPts val="300"/>
              </a:spcAft>
              <a:buNone/>
            </a:pPr>
            <a:r>
              <a:rPr lang="en-US" sz="1300" dirty="0">
                <a:solidFill>
                  <a:schemeClr val="tx2"/>
                </a:solidFill>
              </a:rPr>
              <a:t>target down for 30s</a:t>
            </a:r>
            <a:endParaRPr lang="en-US" sz="1300" dirty="0"/>
          </a:p>
          <a:p>
            <a:pPr indent="0" marL="0">
              <a:spcAft>
                <a:spcPts val="300"/>
              </a:spcAft>
              <a:buNone/>
            </a:pPr>
            <a:r>
              <a:rPr lang="en-US" sz="1300" b="1" dirty="0">
                <a:solidFill>
                  <a:schemeClr val="tx2"/>
                </a:solidFill>
              </a:rPr>
              <a:t>InventoryServiceDown</a:t>
            </a:r>
            <a:endParaRPr lang="en-US" sz="1300" dirty="0"/>
          </a:p>
          <a:p>
            <a:pPr indent="0" marL="0">
              <a:spcAft>
                <a:spcPts val="300"/>
              </a:spcAft>
              <a:buNone/>
            </a:pPr>
            <a:r>
              <a:rPr lang="en-US" sz="1300" dirty="0">
                <a:solidFill>
                  <a:schemeClr val="tx2"/>
                </a:solidFill>
              </a:rPr>
              <a:t>target down for 30s</a:t>
            </a:r>
            <a:endParaRPr lang="en-US" sz="1300" dirty="0"/>
          </a:p>
          <a:p>
            <a:pPr indent="0" marL="0">
              <a:spcAft>
                <a:spcPts val="300"/>
              </a:spcAft>
              <a:buNone/>
            </a:pPr>
            <a:r>
              <a:rPr lang="en-US" sz="1300" b="1" dirty="0">
                <a:solidFill>
                  <a:schemeClr val="tx2"/>
                </a:solidFill>
              </a:rPr>
              <a:t>HighOrderErrorRate</a:t>
            </a:r>
            <a:endParaRPr lang="en-US" sz="1300" dirty="0"/>
          </a:p>
          <a:p>
            <a:pPr indent="0" marL="0">
              <a:spcAft>
                <a:spcPts val="300"/>
              </a:spcAft>
              <a:buNone/>
            </a:pPr>
            <a:r>
              <a:rPr lang="en-US" sz="1300" dirty="0">
                <a:solidFill>
                  <a:schemeClr val="tx2"/>
                </a:solidFill>
              </a:rPr>
              <a:t>sustained HTTP 5xx</a:t>
            </a:r>
            <a:endParaRPr lang="en-US" sz="1300" dirty="0"/>
          </a:p>
        </p:txBody>
      </p:sp>
      <p:sp>
        <p:nvSpPr>
          <p:cNvPr id="13" name="grafana card"/>
          <p:cNvSpPr/>
          <p:nvPr/>
        </p:nvSpPr>
        <p:spPr>
          <a:xfrm>
            <a:off x="6080760" y="1188720"/>
            <a:ext cx="2606040" cy="2834640"/>
          </a:xfrm>
          <a:prstGeom prst="roundRect">
            <a:avLst>
              <a:gd name="adj" fmla="val 2807"/>
            </a:avLst>
          </a:prstGeom>
          <a:solidFill>
            <a:schemeClr val="bg2"/>
          </a:solidFill>
          <a:ln/>
        </p:spPr>
      </p:sp>
      <p:sp>
        <p:nvSpPr>
          <p:cNvPr id="14" name="grafana icon bg"/>
          <p:cNvSpPr/>
          <p:nvPr/>
        </p:nvSpPr>
        <p:spPr>
          <a:xfrm>
            <a:off x="6263640" y="1371600"/>
            <a:ext cx="457200" cy="457200"/>
          </a:xfrm>
          <a:prstGeom prst="ellipse">
            <a:avLst/>
          </a:prstGeom>
          <a:solidFill>
            <a:schemeClr val="bg1"/>
          </a:solidFill>
          <a:ln/>
        </p:spPr>
      </p:sp>
      <p:pic>
        <p:nvPicPr>
          <p:cNvPr id="15" name="grafana icon" descr="preencoded.png">    </p:cNvPr>
          <p:cNvPicPr>
            <a:picLocks noChangeAspect="1"/>
          </p:cNvPicPr>
          <p:nvPr/>
        </p:nvPicPr>
        <p:blipFill>
          <a:blip r:embed="rId3"/>
          <a:stretch>
            <a:fillRect/>
          </a:stretch>
        </p:blipFill>
        <p:spPr>
          <a:xfrm>
            <a:off x="6364224" y="1472184"/>
            <a:ext cx="256032" cy="256032"/>
          </a:xfrm>
          <a:prstGeom prst="rect">
            <a:avLst/>
          </a:prstGeom>
        </p:spPr>
      </p:pic>
      <p:sp>
        <p:nvSpPr>
          <p:cNvPr id="16" name="grafana title"/>
          <p:cNvSpPr txBox="1"/>
          <p:nvPr/>
        </p:nvSpPr>
        <p:spPr>
          <a:xfrm>
            <a:off x="6858000" y="1371600"/>
            <a:ext cx="1691640" cy="457200"/>
          </a:xfrm>
          <a:prstGeom prst="rect">
            <a:avLst/>
          </a:prstGeom>
          <a:noFill/>
          <a:ln/>
        </p:spPr>
        <p:txBody>
          <a:bodyPr wrap="square" lIns="0" tIns="0" rIns="0" bIns="0" rtlCol="0" anchor="ctr"/>
          <a:lstStyle/>
          <a:p>
            <a:pPr indent="0" marL="0">
              <a:buNone/>
            </a:pPr>
            <a:r>
              <a:rPr lang="en-US" sz="1500" b="1" dirty="0">
                <a:solidFill>
                  <a:schemeClr val="tx1"/>
                </a:solidFill>
              </a:rPr>
              <a:t>Grafana dashboard</a:t>
            </a:r>
            <a:endParaRPr lang="en-US" sz="1500" dirty="0"/>
          </a:p>
        </p:txBody>
      </p:sp>
      <p:sp>
        <p:nvSpPr>
          <p:cNvPr id="17" name="grafana body"/>
          <p:cNvSpPr txBox="1"/>
          <p:nvPr/>
        </p:nvSpPr>
        <p:spPr>
          <a:xfrm>
            <a:off x="6263640" y="1920240"/>
            <a:ext cx="2240280" cy="196596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Service up status</a:t>
            </a:r>
            <a:endParaRPr lang="en-US" sz="1300" dirty="0"/>
          </a:p>
          <a:p>
            <a:pPr marL="342900" indent="-342900">
              <a:spcAft>
                <a:spcPts val="300"/>
              </a:spcAft>
              <a:buSzPct val="100000"/>
              <a:buChar char="•"/>
            </a:pPr>
            <a:r>
              <a:rPr lang="en-US" sz="1300" dirty="0">
                <a:solidFill>
                  <a:schemeClr val="tx2"/>
                </a:solidFill>
              </a:rPr>
              <a:t>JVM heap usage</a:t>
            </a:r>
            <a:endParaRPr lang="en-US" sz="1300" dirty="0"/>
          </a:p>
          <a:p>
            <a:pPr marL="342900" indent="-342900">
              <a:spcAft>
                <a:spcPts val="300"/>
              </a:spcAft>
              <a:buSzPct val="100000"/>
              <a:buChar char="•"/>
            </a:pPr>
            <a:r>
              <a:rPr lang="en-US" sz="1300" dirty="0">
                <a:solidFill>
                  <a:schemeClr val="tx2"/>
                </a:solidFill>
              </a:rPr>
              <a:t>Request rate by endpoint and status</a:t>
            </a:r>
            <a:endParaRPr lang="en-US" sz="1300" dirty="0"/>
          </a:p>
          <a:p>
            <a:pPr marL="342900" indent="-342900">
              <a:spcAft>
                <a:spcPts val="300"/>
              </a:spcAft>
              <a:buSzPct val="100000"/>
              <a:buChar char="•"/>
            </a:pPr>
            <a:r>
              <a:rPr lang="en-US" sz="1300" dirty="0">
                <a:solidFill>
                  <a:schemeClr val="tx2"/>
                </a:solidFill>
              </a:rPr>
              <a:t>5xx error count</a:t>
            </a:r>
            <a:endParaRPr lang="en-US" sz="1300" dirty="0"/>
          </a:p>
          <a:p>
            <a:pPr indent="0" marL="0">
              <a:spcAft>
                <a:spcPts val="300"/>
              </a:spcAft>
              <a:buNone/>
            </a:pPr>
            <a:r>
              <a:rPr lang="en-US" sz="1300" dirty="0">
                <a:solidFill>
                  <a:schemeClr val="tx2"/>
                </a:solidFill>
              </a:rPr>
              <a:t> </a:t>
            </a:r>
            <a:endParaRPr lang="en-US" sz="1300" dirty="0"/>
          </a:p>
          <a:p>
            <a:pPr indent="0" marL="0">
              <a:spcAft>
                <a:spcPts val="300"/>
              </a:spcAft>
              <a:buNone/>
            </a:pPr>
            <a:r>
              <a:rPr lang="en-US" sz="1300" dirty="0">
                <a:solidFill>
                  <a:schemeClr val="tx2"/>
                </a:solidFill>
              </a:rPr>
              <a:t>Datasource and dashboard provisioned from Git</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Problems hit and how I fixed them</a:t>
            </a:r>
            <a:endParaRPr lang="en-US" sz="3000" dirty="0"/>
          </a:p>
        </p:txBody>
      </p:sp>
      <p:sp>
        <p:nvSpPr>
          <p:cNvPr id="3" name="problem 1 card"/>
          <p:cNvSpPr/>
          <p:nvPr/>
        </p:nvSpPr>
        <p:spPr>
          <a:xfrm>
            <a:off x="457200" y="1234440"/>
            <a:ext cx="4023360" cy="1371600"/>
          </a:xfrm>
          <a:prstGeom prst="roundRect">
            <a:avLst>
              <a:gd name="adj" fmla="val 5333"/>
            </a:avLst>
          </a:prstGeom>
          <a:solidFill>
            <a:schemeClr val="bg2"/>
          </a:solidFill>
          <a:ln/>
        </p:spPr>
      </p:sp>
      <p:sp>
        <p:nvSpPr>
          <p:cNvPr id="4" name="problem 1 title"/>
          <p:cNvSpPr txBox="1"/>
          <p:nvPr/>
        </p:nvSpPr>
        <p:spPr>
          <a:xfrm>
            <a:off x="640080" y="1371600"/>
            <a:ext cx="3657600" cy="365760"/>
          </a:xfrm>
          <a:prstGeom prst="rect">
            <a:avLst/>
          </a:prstGeom>
          <a:noFill/>
          <a:ln/>
        </p:spPr>
        <p:txBody>
          <a:bodyPr wrap="square" lIns="0" tIns="0" rIns="0" bIns="0" rtlCol="0" anchor="ctr"/>
          <a:lstStyle/>
          <a:p>
            <a:pPr indent="0" marL="0">
              <a:buNone/>
            </a:pPr>
            <a:r>
              <a:rPr lang="en-US" sz="1500" b="1" dirty="0">
                <a:solidFill>
                  <a:schemeClr val="tx1"/>
                </a:solidFill>
              </a:rPr>
              <a:t>Tests failed in CI</a:t>
            </a:r>
            <a:endParaRPr lang="en-US" sz="1500" dirty="0"/>
          </a:p>
        </p:txBody>
      </p:sp>
      <p:sp>
        <p:nvSpPr>
          <p:cNvPr id="5" name="problem 1 body"/>
          <p:cNvSpPr txBox="1"/>
          <p:nvPr/>
        </p:nvSpPr>
        <p:spPr>
          <a:xfrm>
            <a:off x="640080" y="1783080"/>
            <a:ext cx="3657600" cy="868680"/>
          </a:xfrm>
          <a:prstGeom prst="rect">
            <a:avLst/>
          </a:prstGeom>
          <a:noFill/>
          <a:ln/>
        </p:spPr>
        <p:txBody>
          <a:bodyPr wrap="square" lIns="0" tIns="0" rIns="0" bIns="0" rtlCol="0" anchor="t"/>
          <a:lstStyle/>
          <a:p>
            <a:pPr indent="0" marL="0">
              <a:spcAft>
                <a:spcPts val="400"/>
              </a:spcAft>
              <a:buNone/>
            </a:pPr>
            <a:r>
              <a:rPr lang="en-US" sz="1300" b="1" dirty="0">
                <a:solidFill>
                  <a:schemeClr val="accent5"/>
                </a:solidFill>
              </a:rPr>
              <a:t>Cause: </a:t>
            </a:r>
            <a:pPr indent="0" marL="0">
              <a:spcAft>
                <a:spcPts val="400"/>
              </a:spcAft>
              <a:buNone/>
            </a:pPr>
            <a:r>
              <a:rPr lang="en-US" sz="1300" dirty="0">
                <a:solidFill>
                  <a:schemeClr val="tx2"/>
                </a:solidFill>
              </a:rPr>
              <a:t>The context test needs a database</a:t>
            </a:r>
            <a:endParaRPr lang="en-US" sz="1300" dirty="0"/>
          </a:p>
          <a:p>
            <a:pPr indent="0" marL="0">
              <a:spcAft>
                <a:spcPts val="400"/>
              </a:spcAft>
              <a:buNone/>
            </a:pPr>
            <a:r>
              <a:rPr lang="en-US" sz="1300" b="1" dirty="0">
                <a:solidFill>
                  <a:schemeClr val="accent1"/>
                </a:solidFill>
              </a:rPr>
              <a:t>Fix: </a:t>
            </a:r>
            <a:pPr indent="0" marL="0">
              <a:spcAft>
                <a:spcPts val="400"/>
              </a:spcAft>
              <a:buNone/>
            </a:pPr>
            <a:r>
              <a:rPr lang="en-US" sz="1300" dirty="0">
                <a:solidFill>
                  <a:schemeClr val="tx2"/>
                </a:solidFill>
              </a:rPr>
              <a:t>Added a postgres:17 service container to the job</a:t>
            </a:r>
            <a:endParaRPr lang="en-US" sz="1300" dirty="0"/>
          </a:p>
        </p:txBody>
      </p:sp>
      <p:sp>
        <p:nvSpPr>
          <p:cNvPr id="6" name="problem 2 card"/>
          <p:cNvSpPr/>
          <p:nvPr/>
        </p:nvSpPr>
        <p:spPr>
          <a:xfrm>
            <a:off x="4663440" y="1234440"/>
            <a:ext cx="4023360" cy="1371600"/>
          </a:xfrm>
          <a:prstGeom prst="roundRect">
            <a:avLst>
              <a:gd name="adj" fmla="val 5333"/>
            </a:avLst>
          </a:prstGeom>
          <a:solidFill>
            <a:schemeClr val="bg2"/>
          </a:solidFill>
          <a:ln/>
        </p:spPr>
      </p:sp>
      <p:sp>
        <p:nvSpPr>
          <p:cNvPr id="7" name="problem 2 title"/>
          <p:cNvSpPr txBox="1"/>
          <p:nvPr/>
        </p:nvSpPr>
        <p:spPr>
          <a:xfrm>
            <a:off x="4846320" y="1371600"/>
            <a:ext cx="3657600" cy="365760"/>
          </a:xfrm>
          <a:prstGeom prst="rect">
            <a:avLst/>
          </a:prstGeom>
          <a:noFill/>
          <a:ln/>
        </p:spPr>
        <p:txBody>
          <a:bodyPr wrap="square" lIns="0" tIns="0" rIns="0" bIns="0" rtlCol="0" anchor="ctr"/>
          <a:lstStyle/>
          <a:p>
            <a:pPr indent="0" marL="0">
              <a:buNone/>
            </a:pPr>
            <a:r>
              <a:rPr lang="en-US" sz="1500" b="1" dirty="0">
                <a:solidFill>
                  <a:schemeClr val="tx1"/>
                </a:solidFill>
              </a:rPr>
              <a:t>EKS nodes cannot join</a:t>
            </a:r>
            <a:endParaRPr lang="en-US" sz="1500" dirty="0"/>
          </a:p>
        </p:txBody>
      </p:sp>
      <p:sp>
        <p:nvSpPr>
          <p:cNvPr id="8" name="problem 2 body"/>
          <p:cNvSpPr txBox="1"/>
          <p:nvPr/>
        </p:nvSpPr>
        <p:spPr>
          <a:xfrm>
            <a:off x="4846320" y="1783080"/>
            <a:ext cx="3657600" cy="868680"/>
          </a:xfrm>
          <a:prstGeom prst="rect">
            <a:avLst/>
          </a:prstGeom>
          <a:noFill/>
          <a:ln/>
        </p:spPr>
        <p:txBody>
          <a:bodyPr wrap="square" lIns="0" tIns="0" rIns="0" bIns="0" rtlCol="0" anchor="t"/>
          <a:lstStyle/>
          <a:p>
            <a:pPr indent="0" marL="0">
              <a:spcAft>
                <a:spcPts val="400"/>
              </a:spcAft>
              <a:buNone/>
            </a:pPr>
            <a:r>
              <a:rPr lang="en-US" sz="1300" b="1" dirty="0">
                <a:solidFill>
                  <a:schemeClr val="accent5"/>
                </a:solidFill>
              </a:rPr>
              <a:t>Cause: </a:t>
            </a:r>
            <a:pPr indent="0" marL="0">
              <a:spcAft>
                <a:spcPts val="400"/>
              </a:spcAft>
              <a:buNone/>
            </a:pPr>
            <a:r>
              <a:rPr lang="en-US" sz="1300" dirty="0">
                <a:solidFill>
                  <a:schemeClr val="tx2"/>
                </a:solidFill>
              </a:rPr>
              <a:t>Private subnets had no route out</a:t>
            </a:r>
            <a:endParaRPr lang="en-US" sz="1300" dirty="0"/>
          </a:p>
          <a:p>
            <a:pPr indent="0" marL="0">
              <a:spcAft>
                <a:spcPts val="400"/>
              </a:spcAft>
              <a:buNone/>
            </a:pPr>
            <a:r>
              <a:rPr lang="en-US" sz="1300" b="1" dirty="0">
                <a:solidFill>
                  <a:schemeClr val="accent1"/>
                </a:solidFill>
              </a:rPr>
              <a:t>Fix: </a:t>
            </a:r>
            <a:pPr indent="0" marL="0">
              <a:spcAft>
                <a:spcPts val="400"/>
              </a:spcAft>
              <a:buNone/>
            </a:pPr>
            <a:r>
              <a:rPr lang="en-US" sz="1300" dirty="0">
                <a:solidFill>
                  <a:schemeClr val="tx2"/>
                </a:solidFill>
              </a:rPr>
              <a:t>Added a NAT gateway and private route table</a:t>
            </a:r>
            <a:endParaRPr lang="en-US" sz="1300" dirty="0"/>
          </a:p>
        </p:txBody>
      </p:sp>
      <p:sp>
        <p:nvSpPr>
          <p:cNvPr id="9" name="problem 3 card"/>
          <p:cNvSpPr/>
          <p:nvPr/>
        </p:nvSpPr>
        <p:spPr>
          <a:xfrm>
            <a:off x="457200" y="2834640"/>
            <a:ext cx="4023360" cy="1371600"/>
          </a:xfrm>
          <a:prstGeom prst="roundRect">
            <a:avLst>
              <a:gd name="adj" fmla="val 5333"/>
            </a:avLst>
          </a:prstGeom>
          <a:solidFill>
            <a:schemeClr val="bg2"/>
          </a:solidFill>
          <a:ln/>
        </p:spPr>
      </p:sp>
      <p:sp>
        <p:nvSpPr>
          <p:cNvPr id="10" name="problem 3 title"/>
          <p:cNvSpPr txBox="1"/>
          <p:nvPr/>
        </p:nvSpPr>
        <p:spPr>
          <a:xfrm>
            <a:off x="640080" y="2971800"/>
            <a:ext cx="3657600" cy="365760"/>
          </a:xfrm>
          <a:prstGeom prst="rect">
            <a:avLst/>
          </a:prstGeom>
          <a:noFill/>
          <a:ln/>
        </p:spPr>
        <p:txBody>
          <a:bodyPr wrap="square" lIns="0" tIns="0" rIns="0" bIns="0" rtlCol="0" anchor="ctr"/>
          <a:lstStyle/>
          <a:p>
            <a:pPr indent="0" marL="0">
              <a:buNone/>
            </a:pPr>
            <a:r>
              <a:rPr lang="en-US" sz="1500" b="1" dirty="0">
                <a:solidFill>
                  <a:schemeClr val="tx1"/>
                </a:solidFill>
              </a:rPr>
              <a:t>Argo CD could not sync</a:t>
            </a:r>
            <a:endParaRPr lang="en-US" sz="1500" dirty="0"/>
          </a:p>
        </p:txBody>
      </p:sp>
      <p:sp>
        <p:nvSpPr>
          <p:cNvPr id="11" name="problem 3 body"/>
          <p:cNvSpPr txBox="1"/>
          <p:nvPr/>
        </p:nvSpPr>
        <p:spPr>
          <a:xfrm>
            <a:off x="640080" y="3383280"/>
            <a:ext cx="3657600" cy="868680"/>
          </a:xfrm>
          <a:prstGeom prst="rect">
            <a:avLst/>
          </a:prstGeom>
          <a:noFill/>
          <a:ln/>
        </p:spPr>
        <p:txBody>
          <a:bodyPr wrap="square" lIns="0" tIns="0" rIns="0" bIns="0" rtlCol="0" anchor="t"/>
          <a:lstStyle/>
          <a:p>
            <a:pPr indent="0" marL="0">
              <a:spcAft>
                <a:spcPts val="400"/>
              </a:spcAft>
              <a:buNone/>
            </a:pPr>
            <a:r>
              <a:rPr lang="en-US" sz="1300" b="1" dirty="0">
                <a:solidFill>
                  <a:schemeClr val="accent5"/>
                </a:solidFill>
              </a:rPr>
              <a:t>Cause: </a:t>
            </a:r>
            <a:pPr indent="0" marL="0">
              <a:spcAft>
                <a:spcPts val="400"/>
              </a:spcAft>
              <a:buNone/>
            </a:pPr>
            <a:r>
              <a:rPr lang="en-US" sz="1300" dirty="0">
                <a:solidFill>
                  <a:schemeClr val="tx2"/>
                </a:solidFill>
              </a:rPr>
              <a:t>kind cluster config sat inside the synced folder</a:t>
            </a:r>
            <a:endParaRPr lang="en-US" sz="1300" dirty="0"/>
          </a:p>
          <a:p>
            <a:pPr indent="0" marL="0">
              <a:spcAft>
                <a:spcPts val="400"/>
              </a:spcAft>
              <a:buNone/>
            </a:pPr>
            <a:r>
              <a:rPr lang="en-US" sz="1300" b="1" dirty="0">
                <a:solidFill>
                  <a:schemeClr val="accent1"/>
                </a:solidFill>
              </a:rPr>
              <a:t>Fix: </a:t>
            </a:r>
            <a:pPr indent="0" marL="0">
              <a:spcAft>
                <a:spcPts val="400"/>
              </a:spcAft>
              <a:buNone/>
            </a:pPr>
            <a:r>
              <a:rPr lang="en-US" sz="1300" dirty="0">
                <a:solidFill>
                  <a:schemeClr val="tx2"/>
                </a:solidFill>
              </a:rPr>
              <a:t>Moved it to cluster/ and built the app of apps folder</a:t>
            </a:r>
            <a:endParaRPr lang="en-US" sz="1300" dirty="0"/>
          </a:p>
        </p:txBody>
      </p:sp>
      <p:sp>
        <p:nvSpPr>
          <p:cNvPr id="12" name="problem 4 card"/>
          <p:cNvSpPr/>
          <p:nvPr/>
        </p:nvSpPr>
        <p:spPr>
          <a:xfrm>
            <a:off x="4663440" y="2834640"/>
            <a:ext cx="4023360" cy="1371600"/>
          </a:xfrm>
          <a:prstGeom prst="roundRect">
            <a:avLst>
              <a:gd name="adj" fmla="val 5333"/>
            </a:avLst>
          </a:prstGeom>
          <a:solidFill>
            <a:schemeClr val="bg2"/>
          </a:solidFill>
          <a:ln/>
        </p:spPr>
      </p:sp>
      <p:sp>
        <p:nvSpPr>
          <p:cNvPr id="13" name="problem 4 title"/>
          <p:cNvSpPr txBox="1"/>
          <p:nvPr/>
        </p:nvSpPr>
        <p:spPr>
          <a:xfrm>
            <a:off x="4846320" y="2971800"/>
            <a:ext cx="3657600" cy="365760"/>
          </a:xfrm>
          <a:prstGeom prst="rect">
            <a:avLst/>
          </a:prstGeom>
          <a:noFill/>
          <a:ln/>
        </p:spPr>
        <p:txBody>
          <a:bodyPr wrap="square" lIns="0" tIns="0" rIns="0" bIns="0" rtlCol="0" anchor="ctr"/>
          <a:lstStyle/>
          <a:p>
            <a:pPr indent="0" marL="0">
              <a:buNone/>
            </a:pPr>
            <a:r>
              <a:rPr lang="en-US" sz="1500" b="1" dirty="0">
                <a:solidFill>
                  <a:schemeClr val="tx1"/>
                </a:solidFill>
              </a:rPr>
              <a:t>Trivy scan rate limited</a:t>
            </a:r>
            <a:endParaRPr lang="en-US" sz="1500" dirty="0"/>
          </a:p>
        </p:txBody>
      </p:sp>
      <p:sp>
        <p:nvSpPr>
          <p:cNvPr id="14" name="problem 4 body"/>
          <p:cNvSpPr txBox="1"/>
          <p:nvPr/>
        </p:nvSpPr>
        <p:spPr>
          <a:xfrm>
            <a:off x="4846320" y="3383280"/>
            <a:ext cx="3657600" cy="868680"/>
          </a:xfrm>
          <a:prstGeom prst="rect">
            <a:avLst/>
          </a:prstGeom>
          <a:noFill/>
          <a:ln/>
        </p:spPr>
        <p:txBody>
          <a:bodyPr wrap="square" lIns="0" tIns="0" rIns="0" bIns="0" rtlCol="0" anchor="t"/>
          <a:lstStyle/>
          <a:p>
            <a:pPr indent="0" marL="0">
              <a:spcAft>
                <a:spcPts val="400"/>
              </a:spcAft>
              <a:buNone/>
            </a:pPr>
            <a:r>
              <a:rPr lang="en-US" sz="1300" b="1" dirty="0">
                <a:solidFill>
                  <a:schemeClr val="accent5"/>
                </a:solidFill>
              </a:rPr>
              <a:t>Cause: </a:t>
            </a:r>
            <a:pPr indent="0" marL="0">
              <a:spcAft>
                <a:spcPts val="400"/>
              </a:spcAft>
              <a:buNone/>
            </a:pPr>
            <a:r>
              <a:rPr lang="en-US" sz="1300" dirty="0">
                <a:solidFill>
                  <a:schemeClr val="tx2"/>
                </a:solidFill>
              </a:rPr>
              <a:t>Maven Central returned HTTP 429</a:t>
            </a:r>
            <a:endParaRPr lang="en-US" sz="1300" dirty="0"/>
          </a:p>
          <a:p>
            <a:pPr indent="0" marL="0">
              <a:spcAft>
                <a:spcPts val="400"/>
              </a:spcAft>
              <a:buNone/>
            </a:pPr>
            <a:r>
              <a:rPr lang="en-US" sz="1300" b="1" dirty="0">
                <a:solidFill>
                  <a:schemeClr val="accent1"/>
                </a:solidFill>
              </a:rPr>
              <a:t>Fix: </a:t>
            </a:r>
            <a:pPr indent="0" marL="0">
              <a:spcAft>
                <a:spcPts val="400"/>
              </a:spcAft>
              <a:buNone/>
            </a:pPr>
            <a:r>
              <a:rPr lang="en-US" sz="1300" dirty="0">
                <a:solidFill>
                  <a:schemeClr val="tx2"/>
                </a:solidFill>
              </a:rPr>
              <a:t>Switched the FS scan to offline mode</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188720"/>
          </a:xfrm>
          <a:prstGeom prst="rect">
            <a:avLst/>
          </a:prstGeom>
          <a:noFill/>
          <a:ln/>
        </p:spPr>
        <p:txBody>
          <a:bodyPr wrap="square" lIns="0" tIns="0" rIns="0" bIns="0" rtlCol="0" anchor="b"/>
          <a:lstStyle/>
          <a:p>
            <a:pPr algn="l" indent="0" marL="0">
              <a:buNone/>
            </a:pPr>
            <a:r>
              <a:rPr lang="en-US" sz="4000" b="1" dirty="0">
                <a:solidFill>
                  <a:schemeClr val="bg1"/>
                </a:solidFill>
                <a:latin typeface="Arial" pitchFamily="34" charset="0"/>
                <a:ea typeface="Arial" pitchFamily="34" charset="-122"/>
                <a:cs typeface="Arial" pitchFamily="34" charset="-120"/>
              </a:rPr>
              <a:t>Live walkthrough</a:t>
            </a:r>
            <a:endParaRPr lang="en-US" sz="4000" dirty="0"/>
          </a:p>
        </p:txBody>
      </p:sp>
      <p:sp>
        <p:nvSpPr>
          <p:cNvPr id="3" name="Text 0"/>
          <p:cNvSpPr/>
          <p:nvPr>
            <p:ph idx="101" type="body" hasCustomPrompt="1"/>
          </p:nvPr>
        </p:nvSpPr>
        <p:spPr>
          <a:xfrm>
            <a:off x="548640" y="2743200"/>
            <a:ext cx="8046720" cy="822960"/>
          </a:xfrm>
          <a:prstGeom prst="rect">
            <a:avLst/>
          </a:prstGeom>
          <a:noFill/>
          <a:ln/>
        </p:spPr>
        <p:txBody>
          <a:bodyPr wrap="square" lIns="0" tIns="0" rIns="0" bIns="0" rtlCol="0" anchor="t"/>
          <a:lstStyle/>
          <a:p>
            <a:pPr algn="l" indent="0" marL="0">
              <a:buNone/>
            </a:pPr>
            <a:r>
              <a:rPr lang="en-US" sz="1800" dirty="0">
                <a:solidFill>
                  <a:schemeClr val="accent6"/>
                </a:solidFill>
                <a:latin typeface="Calibri" pitchFamily="34" charset="0"/>
                <a:ea typeface="Calibri" pitchFamily="34" charset="-122"/>
                <a:cs typeface="Calibri" pitchFamily="34" charset="-120"/>
              </a:rPr>
              <a:t>github.com/parthdagia05/devOps-final</a:t>
            </a:r>
            <a:endParaRPr lang="en-US" sz="1800" dirty="0"/>
          </a:p>
        </p:txBody>
      </p:sp>
      <p:pic>
        <p:nvPicPr>
          <p:cNvPr id="4" name="demo 1 icon" descr="preencoded.png">    </p:cNvPr>
          <p:cNvPicPr>
            <a:picLocks noChangeAspect="1"/>
          </p:cNvPicPr>
          <p:nvPr/>
        </p:nvPicPr>
        <p:blipFill>
          <a:blip r:embed="rId1"/>
          <a:stretch>
            <a:fillRect/>
          </a:stretch>
        </p:blipFill>
        <p:spPr>
          <a:xfrm>
            <a:off x="886968" y="3611880"/>
            <a:ext cx="365760" cy="365760"/>
          </a:xfrm>
          <a:prstGeom prst="rect">
            <a:avLst/>
          </a:prstGeom>
        </p:spPr>
      </p:pic>
      <p:sp>
        <p:nvSpPr>
          <p:cNvPr id="5" name="demo 1 label"/>
          <p:cNvSpPr txBox="1"/>
          <p:nvPr/>
        </p:nvSpPr>
        <p:spPr>
          <a:xfrm>
            <a:off x="548640" y="4069080"/>
            <a:ext cx="1051560" cy="457200"/>
          </a:xfrm>
          <a:prstGeom prst="rect">
            <a:avLst/>
          </a:prstGeom>
          <a:noFill/>
          <a:ln/>
        </p:spPr>
        <p:txBody>
          <a:bodyPr wrap="square" lIns="0" tIns="0" rIns="0" bIns="0" rtlCol="0" anchor="t"/>
          <a:lstStyle/>
          <a:p>
            <a:pPr algn="ctr" indent="0" marL="0">
              <a:buNone/>
            </a:pPr>
            <a:r>
              <a:rPr lang="en-US" sz="1100" dirty="0">
                <a:solidFill>
                  <a:schemeClr val="bg1"/>
                </a:solidFill>
              </a:rPr>
              <a:t>Codebase</a:t>
            </a:r>
            <a:endParaRPr lang="en-US" sz="1100" dirty="0"/>
          </a:p>
        </p:txBody>
      </p:sp>
      <p:pic>
        <p:nvPicPr>
          <p:cNvPr id="6" name="demo 2 icon" descr="preencoded.png">    </p:cNvPr>
          <p:cNvPicPr>
            <a:picLocks noChangeAspect="1"/>
          </p:cNvPicPr>
          <p:nvPr/>
        </p:nvPicPr>
        <p:blipFill>
          <a:blip r:embed="rId2"/>
          <a:stretch>
            <a:fillRect/>
          </a:stretch>
        </p:blipFill>
        <p:spPr>
          <a:xfrm>
            <a:off x="2048256" y="3611880"/>
            <a:ext cx="365760" cy="365760"/>
          </a:xfrm>
          <a:prstGeom prst="rect">
            <a:avLst/>
          </a:prstGeom>
        </p:spPr>
      </p:pic>
      <p:sp>
        <p:nvSpPr>
          <p:cNvPr id="7" name="demo 2 label"/>
          <p:cNvSpPr txBox="1"/>
          <p:nvPr/>
        </p:nvSpPr>
        <p:spPr>
          <a:xfrm>
            <a:off x="1709928" y="4069080"/>
            <a:ext cx="1051560" cy="457200"/>
          </a:xfrm>
          <a:prstGeom prst="rect">
            <a:avLst/>
          </a:prstGeom>
          <a:noFill/>
          <a:ln/>
        </p:spPr>
        <p:txBody>
          <a:bodyPr wrap="square" lIns="0" tIns="0" rIns="0" bIns="0" rtlCol="0" anchor="t"/>
          <a:lstStyle/>
          <a:p>
            <a:pPr algn="ctr" indent="0" marL="0">
              <a:buNone/>
            </a:pPr>
            <a:r>
              <a:rPr lang="en-US" sz="1100" dirty="0">
                <a:solidFill>
                  <a:schemeClr val="bg1"/>
                </a:solidFill>
              </a:rPr>
              <a:t>CI/CD run</a:t>
            </a:r>
            <a:endParaRPr lang="en-US" sz="1100" dirty="0"/>
          </a:p>
        </p:txBody>
      </p:sp>
      <p:pic>
        <p:nvPicPr>
          <p:cNvPr id="8" name="demo 3 icon" descr="preencoded.png">    </p:cNvPr>
          <p:cNvPicPr>
            <a:picLocks noChangeAspect="1"/>
          </p:cNvPicPr>
          <p:nvPr/>
        </p:nvPicPr>
        <p:blipFill>
          <a:blip r:embed="rId3"/>
          <a:stretch>
            <a:fillRect/>
          </a:stretch>
        </p:blipFill>
        <p:spPr>
          <a:xfrm>
            <a:off x="3209544" y="3611880"/>
            <a:ext cx="365760" cy="365760"/>
          </a:xfrm>
          <a:prstGeom prst="rect">
            <a:avLst/>
          </a:prstGeom>
        </p:spPr>
      </p:pic>
      <p:sp>
        <p:nvSpPr>
          <p:cNvPr id="9" name="demo 3 label"/>
          <p:cNvSpPr txBox="1"/>
          <p:nvPr/>
        </p:nvSpPr>
        <p:spPr>
          <a:xfrm>
            <a:off x="2871216" y="4069080"/>
            <a:ext cx="1051560" cy="457200"/>
          </a:xfrm>
          <a:prstGeom prst="rect">
            <a:avLst/>
          </a:prstGeom>
          <a:noFill/>
          <a:ln/>
        </p:spPr>
        <p:txBody>
          <a:bodyPr wrap="square" lIns="0" tIns="0" rIns="0" bIns="0" rtlCol="0" anchor="t"/>
          <a:lstStyle/>
          <a:p>
            <a:pPr algn="ctr" indent="0" marL="0">
              <a:buNone/>
            </a:pPr>
            <a:r>
              <a:rPr lang="en-US" sz="1100" dirty="0">
                <a:solidFill>
                  <a:schemeClr val="bg1"/>
                </a:solidFill>
              </a:rPr>
              <a:t>Terraform + AWS</a:t>
            </a:r>
            <a:endParaRPr lang="en-US" sz="1100" dirty="0"/>
          </a:p>
        </p:txBody>
      </p:sp>
      <p:pic>
        <p:nvPicPr>
          <p:cNvPr id="10" name="demo 4 icon" descr="preencoded.png">    </p:cNvPr>
          <p:cNvPicPr>
            <a:picLocks noChangeAspect="1"/>
          </p:cNvPicPr>
          <p:nvPr/>
        </p:nvPicPr>
        <p:blipFill>
          <a:blip r:embed="rId4"/>
          <a:stretch>
            <a:fillRect/>
          </a:stretch>
        </p:blipFill>
        <p:spPr>
          <a:xfrm>
            <a:off x="4370832" y="3611880"/>
            <a:ext cx="365760" cy="365760"/>
          </a:xfrm>
          <a:prstGeom prst="rect">
            <a:avLst/>
          </a:prstGeom>
        </p:spPr>
      </p:pic>
      <p:sp>
        <p:nvSpPr>
          <p:cNvPr id="11" name="demo 4 label"/>
          <p:cNvSpPr txBox="1"/>
          <p:nvPr/>
        </p:nvSpPr>
        <p:spPr>
          <a:xfrm>
            <a:off x="4032504" y="4069080"/>
            <a:ext cx="1051560" cy="457200"/>
          </a:xfrm>
          <a:prstGeom prst="rect">
            <a:avLst/>
          </a:prstGeom>
          <a:noFill/>
          <a:ln/>
        </p:spPr>
        <p:txBody>
          <a:bodyPr wrap="square" lIns="0" tIns="0" rIns="0" bIns="0" rtlCol="0" anchor="t"/>
          <a:lstStyle/>
          <a:p>
            <a:pPr algn="ctr" indent="0" marL="0">
              <a:buNone/>
            </a:pPr>
            <a:r>
              <a:rPr lang="en-US" sz="1100" dirty="0">
                <a:solidFill>
                  <a:schemeClr val="bg1"/>
                </a:solidFill>
              </a:rPr>
              <a:t>Argo CD sync</a:t>
            </a:r>
            <a:endParaRPr lang="en-US" sz="1100" dirty="0"/>
          </a:p>
        </p:txBody>
      </p:sp>
      <p:pic>
        <p:nvPicPr>
          <p:cNvPr id="12" name="demo 5 icon" descr="preencoded.png">    </p:cNvPr>
          <p:cNvPicPr>
            <a:picLocks noChangeAspect="1"/>
          </p:cNvPicPr>
          <p:nvPr/>
        </p:nvPicPr>
        <p:blipFill>
          <a:blip r:embed="rId5"/>
          <a:stretch>
            <a:fillRect/>
          </a:stretch>
        </p:blipFill>
        <p:spPr>
          <a:xfrm>
            <a:off x="5532120" y="3611880"/>
            <a:ext cx="365760" cy="365760"/>
          </a:xfrm>
          <a:prstGeom prst="rect">
            <a:avLst/>
          </a:prstGeom>
        </p:spPr>
      </p:pic>
      <p:sp>
        <p:nvSpPr>
          <p:cNvPr id="13" name="demo 5 label"/>
          <p:cNvSpPr txBox="1"/>
          <p:nvPr/>
        </p:nvSpPr>
        <p:spPr>
          <a:xfrm>
            <a:off x="5193792" y="4069080"/>
            <a:ext cx="1051560" cy="457200"/>
          </a:xfrm>
          <a:prstGeom prst="rect">
            <a:avLst/>
          </a:prstGeom>
          <a:noFill/>
          <a:ln/>
        </p:spPr>
        <p:txBody>
          <a:bodyPr wrap="square" lIns="0" tIns="0" rIns="0" bIns="0" rtlCol="0" anchor="t"/>
          <a:lstStyle/>
          <a:p>
            <a:pPr algn="ctr" indent="0" marL="0">
              <a:buNone/>
            </a:pPr>
            <a:r>
              <a:rPr lang="en-US" sz="1100" dirty="0">
                <a:solidFill>
                  <a:schemeClr val="bg1"/>
                </a:solidFill>
              </a:rPr>
              <a:t>kubectl status</a:t>
            </a:r>
            <a:endParaRPr lang="en-US" sz="1100" dirty="0"/>
          </a:p>
        </p:txBody>
      </p:sp>
      <p:pic>
        <p:nvPicPr>
          <p:cNvPr id="14" name="demo 6 icon" descr="preencoded.png">    </p:cNvPr>
          <p:cNvPicPr>
            <a:picLocks noChangeAspect="1"/>
          </p:cNvPicPr>
          <p:nvPr/>
        </p:nvPicPr>
        <p:blipFill>
          <a:blip r:embed="rId6"/>
          <a:stretch>
            <a:fillRect/>
          </a:stretch>
        </p:blipFill>
        <p:spPr>
          <a:xfrm>
            <a:off x="6693408" y="3611880"/>
            <a:ext cx="365760" cy="365760"/>
          </a:xfrm>
          <a:prstGeom prst="rect">
            <a:avLst/>
          </a:prstGeom>
        </p:spPr>
      </p:pic>
      <p:sp>
        <p:nvSpPr>
          <p:cNvPr id="15" name="demo 6 label"/>
          <p:cNvSpPr txBox="1"/>
          <p:nvPr/>
        </p:nvSpPr>
        <p:spPr>
          <a:xfrm>
            <a:off x="6355080" y="4069080"/>
            <a:ext cx="1051560" cy="457200"/>
          </a:xfrm>
          <a:prstGeom prst="rect">
            <a:avLst/>
          </a:prstGeom>
          <a:noFill/>
          <a:ln/>
        </p:spPr>
        <p:txBody>
          <a:bodyPr wrap="square" lIns="0" tIns="0" rIns="0" bIns="0" rtlCol="0" anchor="t"/>
          <a:lstStyle/>
          <a:p>
            <a:pPr algn="ctr" indent="0" marL="0">
              <a:buNone/>
            </a:pPr>
            <a:r>
              <a:rPr lang="en-US" sz="1100" dirty="0">
                <a:solidFill>
                  <a:schemeClr val="bg1"/>
                </a:solidFill>
              </a:rPr>
              <a:t>Prometheus targets</a:t>
            </a:r>
            <a:endParaRPr lang="en-US" sz="1100" dirty="0"/>
          </a:p>
        </p:txBody>
      </p:sp>
      <p:pic>
        <p:nvPicPr>
          <p:cNvPr id="16" name="demo 7 icon" descr="preencoded.png">    </p:cNvPr>
          <p:cNvPicPr>
            <a:picLocks noChangeAspect="1"/>
          </p:cNvPicPr>
          <p:nvPr/>
        </p:nvPicPr>
        <p:blipFill>
          <a:blip r:embed="rId7"/>
          <a:stretch>
            <a:fillRect/>
          </a:stretch>
        </p:blipFill>
        <p:spPr>
          <a:xfrm>
            <a:off x="7854696" y="3611880"/>
            <a:ext cx="365760" cy="365760"/>
          </a:xfrm>
          <a:prstGeom prst="rect">
            <a:avLst/>
          </a:prstGeom>
        </p:spPr>
      </p:pic>
      <p:sp>
        <p:nvSpPr>
          <p:cNvPr id="17" name="demo 7 label"/>
          <p:cNvSpPr txBox="1"/>
          <p:nvPr/>
        </p:nvSpPr>
        <p:spPr>
          <a:xfrm>
            <a:off x="7516368" y="4069080"/>
            <a:ext cx="1051560" cy="457200"/>
          </a:xfrm>
          <a:prstGeom prst="rect">
            <a:avLst/>
          </a:prstGeom>
          <a:noFill/>
          <a:ln/>
        </p:spPr>
        <p:txBody>
          <a:bodyPr wrap="square" lIns="0" tIns="0" rIns="0" bIns="0" rtlCol="0" anchor="t"/>
          <a:lstStyle/>
          <a:p>
            <a:pPr algn="ctr" indent="0" marL="0">
              <a:buNone/>
            </a:pPr>
            <a:r>
              <a:rPr lang="en-US" sz="1100" dirty="0">
                <a:solidFill>
                  <a:schemeClr val="bg1"/>
                </a:solidFill>
              </a:rPr>
              <a:t>Grafana dashboard</a:t>
            </a:r>
            <a:endParaRPr lang="en-US" sz="1100" dirty="0"/>
          </a:p>
        </p:txBody>
      </p:sp>
    </p:spTree>
  </p:cSld>
  <p:clrMapOvr>
    <a:masterClrMapping/>
  </p:clrMapOvr>
</p:sld>
</file>

<file path=ppt/theme/theme1.xml><?xml version="1.0" encoding="utf-8"?>
<a:theme xmlns:a="http://schemas.openxmlformats.org/drawingml/2006/main" name="OrderSystem Pipeline">
  <a:themeElements>
    <a:clrScheme name="OrderSystem Pipeline">
      <a:dk1>
        <a:srgbClr val="14181F"/>
      </a:dk1>
      <a:lt1>
        <a:srgbClr val="FFFFFF"/>
      </a:lt1>
      <a:dk2>
        <a:srgbClr val="3A4250"/>
      </a:dk2>
      <a:lt2>
        <a:srgbClr val="EEF2EF"/>
      </a:lt2>
      <a:accent1>
        <a:srgbClr val="16A34A"/>
      </a:accent1>
      <a:accent2>
        <a:srgbClr val="F59E0B"/>
      </a:accent2>
      <a:accent3>
        <a:srgbClr val="0E9F9A"/>
      </a:accent3>
      <a:accent4>
        <a:srgbClr val="64748B"/>
      </a:accent4>
      <a:accent5>
        <a:srgbClr val="DC2626"/>
      </a:accent5>
      <a:accent6>
        <a:srgbClr val="DCFCE7"/>
      </a:accent6>
      <a:hlink>
        <a:srgbClr val="0E9F9A"/>
      </a:hlink>
      <a:folHlink>
        <a:srgbClr val="64748B"/>
      </a:folHlink>
    </a:clrScheme>
    <a:fontScheme name="OrderSystem Pipelin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OrderSystem: Cloud-Native DevSecOps Platform</dc:title>
  <dc:subject>PptxGenJS Presentation</dc:subject>
  <dc:creator>Parth Dagia</dc:creator>
  <cp:lastModifiedBy>Parth Dagia</cp:lastModifiedBy>
  <cp:revision>1</cp:revision>
  <dcterms:created xsi:type="dcterms:W3CDTF">2026-10-16T19:48:36Z</dcterms:created>
  <dcterms:modified xsi:type="dcterms:W3CDTF">2026-10-16T19:48:36Z</dcterms:modified>
</cp:coreProperties>
</file>